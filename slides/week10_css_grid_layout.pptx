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0e5d9c1a14418" /><Relationship Type="http://schemas.openxmlformats.org/officeDocument/2006/relationships/extended-properties" Target="/docProps/app.xml" Id="Rbf7dd4509c25402c" /><Relationship Type="http://schemas.openxmlformats.org/officeDocument/2006/relationships/officeDocument" Target="/ppt/presentation.xml" Id="R5639211771d345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632572bd043f3"/>
  </p:sldMasterIdLst>
  <p:notesMasterIdLst>
    <p:notesMasterId xmlns:r="http://schemas.openxmlformats.org/officeDocument/2006/relationships" r:id="R5df8b1c7b22a4119"/>
  </p:notesMasterIdLst>
  <p:sldIdLst>
    <p:sldId xmlns:r="http://schemas.openxmlformats.org/officeDocument/2006/relationships" id="256" r:id="Rae545bc9506f4dea"/>
    <p:sldId xmlns:r="http://schemas.openxmlformats.org/officeDocument/2006/relationships" id="257" r:id="R2601414a94054d45"/>
    <p:sldId xmlns:r="http://schemas.openxmlformats.org/officeDocument/2006/relationships" id="258" r:id="Ree5e8a30f0ba439f"/>
    <p:sldId xmlns:r="http://schemas.openxmlformats.org/officeDocument/2006/relationships" id="259" r:id="R9adc4768bf484a85"/>
    <p:sldId xmlns:r="http://schemas.openxmlformats.org/officeDocument/2006/relationships" id="260" r:id="Rb080e94ca0894cad"/>
    <p:sldId xmlns:r="http://schemas.openxmlformats.org/officeDocument/2006/relationships" id="261" r:id="R5f538b1485a84d12"/>
    <p:sldId xmlns:r="http://schemas.openxmlformats.org/officeDocument/2006/relationships" id="262" r:id="R4b0abf06fcee4259"/>
    <p:sldId xmlns:r="http://schemas.openxmlformats.org/officeDocument/2006/relationships" id="263" r:id="R7bc3023010154a41"/>
    <p:sldId xmlns:r="http://schemas.openxmlformats.org/officeDocument/2006/relationships" id="264" r:id="R004d1c5a874d4a28"/>
    <p:sldId xmlns:r="http://schemas.openxmlformats.org/officeDocument/2006/relationships" id="265" r:id="Rbfe43107817b4428"/>
    <p:sldId xmlns:r="http://schemas.openxmlformats.org/officeDocument/2006/relationships" id="266" r:id="Re2bebc69daa14a1a"/>
    <p:sldId xmlns:r="http://schemas.openxmlformats.org/officeDocument/2006/relationships" id="267" r:id="R8990daa936fb445a"/>
    <p:sldId xmlns:r="http://schemas.openxmlformats.org/officeDocument/2006/relationships" id="268" r:id="Red7d2ed3075646d4"/>
    <p:sldId xmlns:r="http://schemas.openxmlformats.org/officeDocument/2006/relationships" id="269" r:id="Rd13a82e30b4f45aa"/>
    <p:sldId xmlns:r="http://schemas.openxmlformats.org/officeDocument/2006/relationships" id="270" r:id="R784aa15d9d704bf3"/>
    <p:sldId xmlns:r="http://schemas.openxmlformats.org/officeDocument/2006/relationships" id="271" r:id="Ra945d95cb4c94dfb"/>
    <p:sldId xmlns:r="http://schemas.openxmlformats.org/officeDocument/2006/relationships" id="272" r:id="Rd706ce6d3ab84903"/>
    <p:sldId xmlns:r="http://schemas.openxmlformats.org/officeDocument/2006/relationships" id="273" r:id="R09c69751facd41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44eb27f6c34594" /><Relationship Type="http://schemas.openxmlformats.org/officeDocument/2006/relationships/slideMaster" Target="/ppt/slideMasters/slideMaster1.xml" Id="R756632572bd043f3" /><Relationship Type="http://schemas.openxmlformats.org/officeDocument/2006/relationships/notesMaster" Target="/ppt/notesMasters/notesMaster1.xml" Id="R5df8b1c7b22a4119" /><Relationship Type="http://schemas.openxmlformats.org/officeDocument/2006/relationships/presProps" Target="/ppt/presProps.xml" Id="Rc5068ac28341424d" /><Relationship Type="http://schemas.openxmlformats.org/officeDocument/2006/relationships/tableStyles" Target="/ppt/tableStyles.xml" Id="R208c2036d4ed432e" /><Relationship Type="http://schemas.openxmlformats.org/officeDocument/2006/relationships/slide" Target="/ppt/slides/slide1.xml" Id="Rae545bc9506f4dea" /><Relationship Type="http://schemas.openxmlformats.org/officeDocument/2006/relationships/slide" Target="/ppt/slides/slide2.xml" Id="R2601414a94054d45" /><Relationship Type="http://schemas.openxmlformats.org/officeDocument/2006/relationships/slide" Target="/ppt/slides/slide3.xml" Id="Ree5e8a30f0ba439f" /><Relationship Type="http://schemas.openxmlformats.org/officeDocument/2006/relationships/slide" Target="/ppt/slides/slide4.xml" Id="R9adc4768bf484a85" /><Relationship Type="http://schemas.openxmlformats.org/officeDocument/2006/relationships/slide" Target="/ppt/slides/slide5.xml" Id="Rb080e94ca0894cad" /><Relationship Type="http://schemas.openxmlformats.org/officeDocument/2006/relationships/slide" Target="/ppt/slides/slide6.xml" Id="R5f538b1485a84d12" /><Relationship Type="http://schemas.openxmlformats.org/officeDocument/2006/relationships/slide" Target="/ppt/slides/slide7.xml" Id="R4b0abf06fcee4259" /><Relationship Type="http://schemas.openxmlformats.org/officeDocument/2006/relationships/slide" Target="/ppt/slides/slide8.xml" Id="R7bc3023010154a41" /><Relationship Type="http://schemas.openxmlformats.org/officeDocument/2006/relationships/slide" Target="/ppt/slides/slide9.xml" Id="R004d1c5a874d4a28" /><Relationship Type="http://schemas.openxmlformats.org/officeDocument/2006/relationships/slide" Target="/ppt/slides/slide10.xml" Id="Rbfe43107817b4428" /><Relationship Type="http://schemas.openxmlformats.org/officeDocument/2006/relationships/slide" Target="/ppt/slides/slide11.xml" Id="Re2bebc69daa14a1a" /><Relationship Type="http://schemas.openxmlformats.org/officeDocument/2006/relationships/slide" Target="/ppt/slides/slide12.xml" Id="R8990daa936fb445a" /><Relationship Type="http://schemas.openxmlformats.org/officeDocument/2006/relationships/slide" Target="/ppt/slides/slide13.xml" Id="Red7d2ed3075646d4" /><Relationship Type="http://schemas.openxmlformats.org/officeDocument/2006/relationships/slide" Target="/ppt/slides/slide14.xml" Id="Rd13a82e30b4f45aa" /><Relationship Type="http://schemas.openxmlformats.org/officeDocument/2006/relationships/slide" Target="/ppt/slides/slide15.xml" Id="R784aa15d9d704bf3" /><Relationship Type="http://schemas.openxmlformats.org/officeDocument/2006/relationships/slide" Target="/ppt/slides/slide16.xml" Id="Ra945d95cb4c94dfb" /><Relationship Type="http://schemas.openxmlformats.org/officeDocument/2006/relationships/slide" Target="/ppt/slides/slide17.xml" Id="Rd706ce6d3ab84903" /><Relationship Type="http://schemas.openxmlformats.org/officeDocument/2006/relationships/slide" Target="/ppt/slides/slide18.xml" Id="R09c69751facd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1f7c70d1849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ea99bbb9534628" /><Relationship Type="http://schemas.openxmlformats.org/officeDocument/2006/relationships/notesMaster" Target="/ppt/notesMasters/notesMaster1.xml" Id="R3198634f23484f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2d3ac25ca423d" /><Relationship Type="http://schemas.openxmlformats.org/officeDocument/2006/relationships/notesMaster" Target="/ppt/notesMasters/notesMaster1.xml" Id="R002b7b16873044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fe2f4dfdd44a0c" /><Relationship Type="http://schemas.openxmlformats.org/officeDocument/2006/relationships/notesMaster" Target="/ppt/notesMasters/notesMaster1.xml" Id="R990972ee77884d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069e03fe04e1b" /><Relationship Type="http://schemas.openxmlformats.org/officeDocument/2006/relationships/notesMaster" Target="/ppt/notesMasters/notesMaster1.xml" Id="Rd8ff1814b4414a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fc725bae2c4b95" /><Relationship Type="http://schemas.openxmlformats.org/officeDocument/2006/relationships/notesMaster" Target="/ppt/notesMasters/notesMaster1.xml" Id="R693b1147805a42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68ca187c1a448c" /><Relationship Type="http://schemas.openxmlformats.org/officeDocument/2006/relationships/notesMaster" Target="/ppt/notesMasters/notesMaster1.xml" Id="R7a3b229d6af646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20f093a40143cd" /><Relationship Type="http://schemas.openxmlformats.org/officeDocument/2006/relationships/notesMaster" Target="/ppt/notesMasters/notesMaster1.xml" Id="R3dda6131b25740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8e2dffa7564e3b" /><Relationship Type="http://schemas.openxmlformats.org/officeDocument/2006/relationships/notesMaster" Target="/ppt/notesMasters/notesMaster1.xml" Id="R8adce42fd6a845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960d4a960d46c6" /><Relationship Type="http://schemas.openxmlformats.org/officeDocument/2006/relationships/notesMaster" Target="/ppt/notesMasters/notesMaster1.xml" Id="R5080f8b24e2140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5a21ca3595499d" /><Relationship Type="http://schemas.openxmlformats.org/officeDocument/2006/relationships/notesMaster" Target="/ppt/notesMasters/notesMaster1.xml" Id="R9e005490e5d047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daf286f2724769" /><Relationship Type="http://schemas.openxmlformats.org/officeDocument/2006/relationships/notesMaster" Target="/ppt/notesMasters/notesMaster1.xml" Id="Rb51e54ef13754e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d88d9b760248ce" /><Relationship Type="http://schemas.openxmlformats.org/officeDocument/2006/relationships/notesMaster" Target="/ppt/notesMasters/notesMaster1.xml" Id="R0afffea663fe46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41c30697a24339" /><Relationship Type="http://schemas.openxmlformats.org/officeDocument/2006/relationships/notesMaster" Target="/ppt/notesMasters/notesMaster1.xml" Id="Re30c2a176bff47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a239f73f594323" /><Relationship Type="http://schemas.openxmlformats.org/officeDocument/2006/relationships/notesMaster" Target="/ppt/notesMasters/notesMaster1.xml" Id="Red8a819c1da049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4734d42e934491" /><Relationship Type="http://schemas.openxmlformats.org/officeDocument/2006/relationships/notesMaster" Target="/ppt/notesMasters/notesMaster1.xml" Id="Re6aeddc9823540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c6cf5bf3d9483b" /><Relationship Type="http://schemas.openxmlformats.org/officeDocument/2006/relationships/notesMaster" Target="/ppt/notesMasters/notesMaster1.xml" Id="Rb8e4ccc8874947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0330af5164485f" /><Relationship Type="http://schemas.openxmlformats.org/officeDocument/2006/relationships/notesMaster" Target="/ppt/notesMasters/notesMaster1.xml" Id="R7c2a8f00e2544a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d12a1f81a7469a" /><Relationship Type="http://schemas.openxmlformats.org/officeDocument/2006/relationships/notesMaster" Target="/ppt/notesMasters/notesMaster1.xml" Id="Rf04c051655654e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246fa6a6141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bdc7ce414c4e60" /><Relationship Type="http://schemas.openxmlformats.org/officeDocument/2006/relationships/slideLayout" Target="/ppt/slideLayouts/slideLayout1.xml" Id="Re9761f5c7e9b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761f5c7e9b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afb25a50d439c" /><Relationship Type="http://schemas.openxmlformats.org/officeDocument/2006/relationships/notesSlide" Target="/ppt/notesSlides/notesSlide1.xml" Id="R0cfe0b95a355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7f0a11fec4618" /><Relationship Type="http://schemas.openxmlformats.org/officeDocument/2006/relationships/notesSlide" Target="/ppt/notesSlides/notesSlide2.xml" Id="Rd363770738b7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c815bba3b4190" /><Relationship Type="http://schemas.openxmlformats.org/officeDocument/2006/relationships/notesSlide" Target="/ppt/notesSlides/notesSlide3.xml" Id="Rc2c34dff503c4a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8a97c6dd24e1f" /><Relationship Type="http://schemas.openxmlformats.org/officeDocument/2006/relationships/notesSlide" Target="/ppt/notesSlides/notesSlide4.xml" Id="R8e2ca8c596db43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ccc46952d4e3b" /><Relationship Type="http://schemas.openxmlformats.org/officeDocument/2006/relationships/notesSlide" Target="/ppt/notesSlides/notesSlide5.xml" Id="Rd3235075ab7d49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53dcdb2fe462a" /><Relationship Type="http://schemas.openxmlformats.org/officeDocument/2006/relationships/notesSlide" Target="/ppt/notesSlides/notesSlide6.xml" Id="R35c064f4df964d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57bb6aa8040b6" /><Relationship Type="http://schemas.openxmlformats.org/officeDocument/2006/relationships/notesSlide" Target="/ppt/notesSlides/notesSlide7.xml" Id="R7d74b58a0e8042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2e3b6f00248ea" /><Relationship Type="http://schemas.openxmlformats.org/officeDocument/2006/relationships/notesSlide" Target="/ppt/notesSlides/notesSlide8.xml" Id="Rd4c75566d1af40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d80812b36483e" /><Relationship Type="http://schemas.openxmlformats.org/officeDocument/2006/relationships/notesSlide" Target="/ppt/notesSlides/notesSlide9.xml" Id="Rfb90261c03984e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f3439ab5a4479" /><Relationship Type="http://schemas.openxmlformats.org/officeDocument/2006/relationships/notesSlide" Target="/ppt/notesSlides/notesSlide10.xml" Id="R43985c13e42c4c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9dc9183134dbe" /><Relationship Type="http://schemas.openxmlformats.org/officeDocument/2006/relationships/notesSlide" Target="/ppt/notesSlides/notesSlide11.xml" Id="R170f8401022244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6069b4e5d4842" /><Relationship Type="http://schemas.openxmlformats.org/officeDocument/2006/relationships/notesSlide" Target="/ppt/notesSlides/notesSlide12.xml" Id="Rd7e326a46ab243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f1732109b4815" /><Relationship Type="http://schemas.openxmlformats.org/officeDocument/2006/relationships/notesSlide" Target="/ppt/notesSlides/notesSlide13.xml" Id="Raa510a5ef24640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b40d4b71e45b1" /><Relationship Type="http://schemas.openxmlformats.org/officeDocument/2006/relationships/notesSlide" Target="/ppt/notesSlides/notesSlide14.xml" Id="Rd73ed1a4956b47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f5490216e4f4b" /><Relationship Type="http://schemas.openxmlformats.org/officeDocument/2006/relationships/notesSlide" Target="/ppt/notesSlides/notesSlide15.xml" Id="R3dad7d5e937949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36f6dfa34d16" /><Relationship Type="http://schemas.openxmlformats.org/officeDocument/2006/relationships/notesSlide" Target="/ppt/notesSlides/notesSlide16.xml" Id="Rf40bc4707f5e4a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34f45cc684479" /><Relationship Type="http://schemas.openxmlformats.org/officeDocument/2006/relationships/notesSlide" Target="/ppt/notesSlides/notesSlide17.xml" Id="R6df9c59d162446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7366fb5994408" /><Relationship Type="http://schemas.openxmlformats.org/officeDocument/2006/relationships/notesSlide" Target="/ppt/notesSlides/notesSlide18.xml" Id="Rdf4ba352b9bf4c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D1D1C-8271-4255-8900-3FABDE38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38C54-8013-454A-9FAC-267F778F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0D8B9-AE65-40AB-A44E-456D8A21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A0A0A"/>
                </a:solidFill>
              </a:defRPr>
            </a:pPr>
            <a:r>
              <a:rPr sz="4350" b="1">
                <a:solidFill>
                  <a:srgbClr val="0A0A0A"/>
                </a:solidFill>
              </a:rPr>
              <a:t>พื้นฐานการสร้างเว็บไซต์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1FF2A-0961-4EB2-BE3F-C8184CA9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817B74"/>
                </a:solidFill>
              </a:defRPr>
            </a:pPr>
            <a:r>
              <a:rPr sz="4800" b="1">
                <a:solidFill>
                  <a:srgbClr val="817B74"/>
                </a:solidFill>
              </a:rPr>
              <a:t>21909-1006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5EDC0-A11C-4622-91EA-EEBBEA67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สัปดาห์ที่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DE498-CD75-43AF-9910-F30EF81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02E2B"/>
                </a:solidFill>
              </a:defRPr>
            </a:pPr>
            <a:r>
              <a:rPr sz="2100" b="1">
                <a:solidFill>
                  <a:srgbClr val="302E2B"/>
                </a:solidFill>
              </a:rPr>
              <a:t>เรียน CSS Grid แบบค่อยเป็นค่อยไป พร้อมตัวอย่างทุกคำสั่ง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3C3AA-7551-428F-A8AD-549EADC8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CSS GRID LAYOUT</a:t>
            </a:r>
          </a:p>
        </p:txBody>
      </p:sp>
    </p:spTree>
    <p:extLst>
      <p:ext uri="{BB962C8B-B14F-4D97-AF65-F5344CB8AC3E}">
        <p14:creationId xmlns:p14="http://schemas.microsoft.com/office/powerpoint/2010/main" val="692615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0B646-7411-4E40-8EE0-0A8A7AA9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62FF8-7A02-4B19-BEA8-3955CE64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744D9-3BC1-4AB2-B566-9FC36439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38D48-747D-4188-81B3-B62F03DB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วันนี้เราจะสร้าง Gallery Grid จากศูนย์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20E19-09E8-4F5C-BB36-82323A32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ทุกขั้นมีคำสั่งสั้น ผลลัพธ์ และสิ่งที่ต้องสังเกต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85FA7-C419-40E1-8406-0E35CB6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752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AEFE3-AE20-4EB6-9803-EE7FF7E6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1  เปิด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8CC99-F1D8-4DE8-8D1C-D2C5074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52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A53D0-5B85-4978-B7FA-2C2AD293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  สร้างคอลัมน์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75CF1-C28B-43BA-B319-0319EE9F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752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0539F-0C05-4AA4-917E-6C13427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3  สร้างแถวและ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3A2DE-C26C-4372-A25E-484261B8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752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E5C03-124C-44E9-AB1E-818F5004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4  ขยายช่องด้วย span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01056-1DA6-425E-9E22-4BE3347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7524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E483A-6B2F-4BDD-B6A3-6262413C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2"/>
                </a:solidFill>
              </a:defRPr>
            </a:pPr>
            <a:r>
              <a:rPr sz="1350" b="1">
                <a:solidFill>
                  <a:srgbClr val="F4F4F2"/>
                </a:solidFill>
              </a:rPr>
              <a:t>5  ทำให้รองรับมือถือ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A94A7-EBDA-41D6-8AD3-F86A1DEE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0A0A"/>
                </a:solidFill>
              </a:defRPr>
            </a:pPr>
            <a:r>
              <a:rPr sz="1875" b="1">
                <a:solidFill>
                  <a:srgbClr val="0A0A0A"/>
                </a:solidFill>
              </a:rPr>
              <a:t>เริ่มจาก HTML เดิม แล้วเพิ่ม CSS ทีละบรรทัด</a:t>
            </a:r>
          </a:p>
        </p:txBody>
      </p:sp>
    </p:spTree>
    <p:extLst>
      <p:ext uri="{BB962C8B-B14F-4D97-AF65-F5344CB8AC3E}">
        <p14:creationId xmlns:p14="http://schemas.microsoft.com/office/powerpoint/2010/main" val="2027461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A25FF-8249-4516-ABC6-56F83385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1939-A8CA-4AB1-8A4B-FF99B638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FC72-AD62-4037-986D-4ECB8FF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92FB8-D902-4388-8660-2B0220AA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ก่อนเขียน Grid: กล่องแม่และกล่องลูก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6FABD-BAF2-44EA-97A2-44895F69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Grid Container คือกล่องแม่ ส่วนลูกโดยตรงทั้งหมดคือ Grid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7FFA8-A466-4350-BA47-42AB3C0E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381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9A223-9122-4F93-BDF1-7B094B3C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3924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4F4F2"/>
                </a:solidFill>
              </a:defRPr>
            </a:pPr>
            <a:r>
              <a:rPr sz="1275">
                <a:solidFill>
                  <a:srgbClr val="F4F4F2"/>
                </a:solidFill>
              </a:rPr>
              <a:t>&lt;section class="gallery"&gt;</a:t>
            </a:r>
          </a:p>
          <a:p xmlns:a="http://schemas.openxmlformats.org/drawingml/2006/main">
            <a:pPr>
              <a:defRPr sz="1275">
                <a:solidFill>
                  <a:srgbClr val="F4F4F2"/>
                </a:solidFill>
              </a:defRPr>
            </a:pPr>
            <a:r>
              <a:rPr sz="1275">
                <a:solidFill>
                  <a:srgbClr val="F4F4F2"/>
                </a:solidFill>
              </a:rPr>
              <a:t>  &lt;article class="item"&gt;1&lt;/article&gt;</a:t>
            </a:r>
          </a:p>
          <a:p xmlns:a="http://schemas.openxmlformats.org/drawingml/2006/main">
            <a:pPr>
              <a:defRPr sz="1275">
                <a:solidFill>
                  <a:srgbClr val="F4F4F2"/>
                </a:solidFill>
              </a:defRPr>
            </a:pPr>
            <a:r>
              <a:rPr sz="1275">
                <a:solidFill>
                  <a:srgbClr val="F4F4F2"/>
                </a:solidFill>
              </a:rPr>
              <a:t>  &lt;article class="item"&gt;2&lt;/article&gt;</a:t>
            </a:r>
          </a:p>
          <a:p xmlns:a="http://schemas.openxmlformats.org/drawingml/2006/main">
            <a:pPr>
              <a:defRPr sz="1275">
                <a:solidFill>
                  <a:srgbClr val="F4F4F2"/>
                </a:solidFill>
              </a:defRPr>
            </a:pPr>
            <a:r>
              <a:rPr sz="1275">
                <a:solidFill>
                  <a:srgbClr val="F4F4F2"/>
                </a:solidFill>
              </a:rPr>
              <a:t>  &lt;article class="item"&gt;3&lt;/article&gt;</a:t>
            </a:r>
          </a:p>
          <a:p xmlns:a="http://schemas.openxmlformats.org/drawingml/2006/main">
            <a:pPr>
              <a:defRPr sz="1275">
                <a:solidFill>
                  <a:srgbClr val="F4F4F2"/>
                </a:solidFill>
              </a:defRPr>
            </a:pPr>
            <a:r>
              <a:rPr sz="1275">
                <a:solidFill>
                  <a:srgbClr val="F4F4F2"/>
                </a:solidFill>
              </a:rPr>
              <a:t>&lt;/section&gt;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30BBA-C42A-4F35-8411-194293E5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GRID CONTAINER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9B0A7-DE75-4DA0-8431-81FC4E22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050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EBE8"/>
          </a:solidFill>
          <a:ln xmlns:a="http://schemas.openxmlformats.org/drawingml/2006/main" w="0">
            <a:solidFill>
              <a:srgbClr val="ECEB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AB083-B2BB-4520-A840-F5EDCDF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2902F-1D4C-4B25-AA83-5EA225F8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Item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A78F7-9230-4C18-A549-30F7BDB0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7660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EA4F5-76D9-4A73-A973-0F9AE4F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Item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2E0EF-9F07-4DD4-A289-4603A5A8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9CDF0-CBA9-43BE-B766-630C5DC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Item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C77F4-F85D-4F5B-9D2C-C676493A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101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Column = แนวตั้ง  •  Row = แนวนอน</a:t>
            </a:r>
          </a:p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Cell = ช่องหนึ่งช่อง  •  Line = เส้นขอบช่อง</a:t>
            </a:r>
          </a:p>
        </p:txBody>
      </p:sp>
    </p:spTree>
    <p:extLst>
      <p:ext uri="{BB962C8B-B14F-4D97-AF65-F5344CB8AC3E}">
        <p14:creationId xmlns:p14="http://schemas.microsoft.com/office/powerpoint/2010/main" val="1132346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19D6C-270E-464C-955B-774BA131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3784A-2806-448A-B5CD-698946E8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7F8E1-889B-496F-8B0B-3A374BA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4E24D-92D7-4831-981D-98CAD014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1: เปิดระบบด้วย display: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2965B-3181-4BEB-BC33-225BE2F5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ใส่คำสั่งที่กล่องแม่ .gallery เพียงจุดเดียว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97688-C7A4-4768-86E7-8352A84E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09C44-B390-4997-8086-BE400A5E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4F4F2"/>
                </a:solidFill>
              </a:defRPr>
            </a:pPr>
            <a:r>
              <a:rPr sz="1500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500">
                <a:solidFill>
                  <a:srgbClr val="F4F4F2"/>
                </a:solidFill>
              </a:defRPr>
            </a:pPr>
            <a:r>
              <a:rPr sz="1500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500">
                <a:solidFill>
                  <a:srgbClr val="F4F4F2"/>
                </a:solidFill>
              </a:defRPr>
            </a:pPr>
            <a:r>
              <a:rPr sz="15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43322-B370-48A1-8C73-E6F2F3C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ยังไม่กำหนดคอลัมน์: Item จะเรียงลงทีละแถว แต่ตอนนี้เป็น Grid 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76328-0138-40BF-B2B6-29B7EE25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ผลลัพธ์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BA075-AB8E-4FED-BA7E-2CFB6135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3333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CEBE8"/>
          </a:solidFill>
          <a:ln xmlns:a="http://schemas.openxmlformats.org/drawingml/2006/main" w="0">
            <a:solidFill>
              <a:srgbClr val="ECEB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89A75-D423-4486-952C-893811C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52700"/>
            <a:ext cx="283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426AD-D3F5-4248-8605-A7AA4B7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9D304-470A-4E32-8125-528A99DC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83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D6618-5FAF-45B2-A662-4A805C2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72F32-3082-4F83-A354-06019663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52900"/>
            <a:ext cx="283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1D8B3-966D-42A9-82FA-A7BA7373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24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DBB64-32F6-4AC5-A56D-D7CB4618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24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17B74"/>
                </a:solidFill>
              </a:defRPr>
            </a:pPr>
            <a:r>
              <a:rPr sz="1425">
                <a:solidFill>
                  <a:srgbClr val="817B74"/>
                </a:solidFill>
              </a:rPr>
              <a:t>ลูกโดยตรงของ .gallery</a:t>
            </a:r>
          </a:p>
          <a:p xmlns:a="http://schemas.openxmlformats.org/drawingml/2006/main">
            <a:pPr>
              <a:defRPr sz="1425">
                <a:solidFill>
                  <a:srgbClr val="817B74"/>
                </a:solidFill>
              </a:defRPr>
            </a:pPr>
            <a:r>
              <a:rPr sz="1425">
                <a:solidFill>
                  <a:srgbClr val="817B74"/>
                </a:solidFill>
              </a:rPr>
              <a:t>จะเป็น Grid Item 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1798172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97CE4-597B-4EFE-A1C3-6C69F0BC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F08DA-1107-4369-A1F3-F4B76F19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0B9E7-9A12-4F81-B4CB-91FD15EE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8ACFB-29A3-4C0E-BCE3-E5595DFA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2: สร้าง 3 คอลัมน์ด้วย grid-template-columns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E7C20-0EE8-4D6B-9D80-C4CC20F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เริ่มจากคอลัมน์ที่แบ่งพื้นที่เท่ากัน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26870-7571-4240-B72F-4FAAFD5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7E5CE-641B-45F6-97CB-2434297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grid-template-columns: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  1fr 1fr 1fr;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4D372-1DBF-4812-B965-497F471E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1fr คือ 1 ส่วนของพื้นที่ว่างที่เหลือ: สามช่องจึงกว้างเท่ากัน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0DAED-DA7E-4A40-8A4F-2E5D5FF6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ผลลัพธ์: 3 คอลัมน์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4202A-9A11-4EC0-900E-5B7D8C9D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85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A8F56-CEE8-4BBA-93E1-DB1A0E6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77DB0-8D41-46B1-82FE-B5A22575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52675"/>
            <a:ext cx="85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E81D5-60F1-46CC-B014-61DA9B5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39D9B-6C49-47ED-9251-97B5475F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52675"/>
            <a:ext cx="85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38957-C1FF-4514-8762-4499F36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30BC0-AEA4-4E2F-888C-E2A4F39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48025"/>
            <a:ext cx="85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48B55-18B6-46DA-B7EF-84BE78E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B4E05-1DA4-4D70-BE44-6CBA3482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85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CD379-06A4-477B-BFCB-F9DD0DB5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194B3-27A4-4B0E-B851-5D36816B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48025"/>
            <a:ext cx="85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D2500-39A4-42B8-9B99-5005CB5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A9AE2-A675-44CA-A4EF-48BA3C4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Item ที่ 4–6 ขึ้นแถวใหม่เอง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64689-0930-420D-AB98-9DF7E8AF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17B74"/>
                </a:solidFill>
              </a:defRPr>
            </a:pPr>
            <a:r>
              <a:rPr sz="1500">
                <a:solidFill>
                  <a:srgbClr val="817B74"/>
                </a:solidFill>
              </a:rPr>
              <a:t>จำนวนคอลัมน์ 3 ช่อง</a:t>
            </a:r>
          </a:p>
          <a:p xmlns:a="http://schemas.openxmlformats.org/drawingml/2006/main">
            <a:pPr>
              <a:defRPr sz="1500">
                <a:solidFill>
                  <a:srgbClr val="817B74"/>
                </a:solidFill>
              </a:defRPr>
            </a:pPr>
            <a:r>
              <a:rPr sz="1500">
                <a:solidFill>
                  <a:srgbClr val="817B74"/>
                </a:solidFill>
              </a:rPr>
              <a:t>ความกว้างช่องละ 1fr</a:t>
            </a:r>
          </a:p>
        </p:txBody>
      </p:sp>
    </p:spTree>
    <p:extLst>
      <p:ext uri="{BB962C8B-B14F-4D97-AF65-F5344CB8AC3E}">
        <p14:creationId xmlns:p14="http://schemas.microsoft.com/office/powerpoint/2010/main" val="1975039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027E7-3275-4684-A3AD-886B9589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994F7-D7ED-46FC-AB56-C48F441B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2F041-8A78-4D0D-805B-EDC6E4D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ABD66-553C-4D9B-8FD9-A5A3FF74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แบ่งสัดส่วนด้วย fr: ช่องกลางกว้างเป็นสองเท่า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33C04-684A-4417-B451-3361A96E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fr แบ่งเฉพาะพื้นที่ว่างที่เหลือใน Grid Container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BAAB1-C0C0-49CB-9300-1A5DA74A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209B2-3014-4865-BB3D-317D043D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.layout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grid-template-columns: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  1fr 2fr 1fr;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B6B19-6697-46ED-8790-34697886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รวมเป็น 4 ส่วน: คอลัมน์กลางได้ 2 ส่วน ส่วนซ้ายและขวาได้ฝั่งละ 1 ส่วน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9CE90-E28A-4703-9938-7D20883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ผลลัพธ์: 1fr  2fr  1fr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C5AEE-22A7-45DE-8B92-5D1EB79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742950" cy="15240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21A2A-3FFC-4033-A69E-DF616390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1fr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47480-1402-4BA4-8704-7C28C070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1485900" cy="15240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F3F86-7A3F-4B31-8F24-45F1CA3C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2"/>
                </a:solidFill>
              </a:defRPr>
            </a:pPr>
            <a:r>
              <a:rPr sz="1350" b="1">
                <a:solidFill>
                  <a:srgbClr val="F4F4F2"/>
                </a:solidFill>
              </a:rPr>
              <a:t>2fr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241DC-BF8E-460E-B543-CC536B2E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742950" cy="15240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C6FBD-28FD-4473-86F0-70C73EF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1fr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4778E-4089-4A37-A488-9B14D865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ตัวอย่างขนาดตายตัว:</a:t>
            </a:r>
          </a:p>
          <a:p xmlns:a="http://schemas.openxmlformats.org/drawingml/2006/main">
            <a:pPr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220px  1fr  160px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28EF2-7B73-433C-A98A-CEFD6D5C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17B74"/>
                </a:solidFill>
              </a:defRPr>
            </a:pPr>
            <a:r>
              <a:rPr sz="1425">
                <a:solidFill>
                  <a:srgbClr val="817B74"/>
                </a:solidFill>
              </a:rPr>
              <a:t>เหมาะกับ Sidebar + เนื้อหาหลัก + แถบข้าง</a:t>
            </a:r>
          </a:p>
        </p:txBody>
      </p:sp>
    </p:spTree>
    <p:extLst>
      <p:ext uri="{BB962C8B-B14F-4D97-AF65-F5344CB8AC3E}">
        <p14:creationId xmlns:p14="http://schemas.microsoft.com/office/powerpoint/2010/main" val="1565251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AC513-507A-4512-9603-493F77D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75303-6BB1-421F-B4B8-AF5F7552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E369E-71BB-4480-A576-87E6511E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9CDC3-8DFC-4775-95DF-5A6BBDC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3: ใช้ repeat() เพื่อลดโค้ดที่ซ้ำ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EB08E-600D-4435-A028-DA083F4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เขียนความหมายเดิม แต่กระชับและปรับจำนวนช่องได้ง่าย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69BF5-CDD7-41FD-A73E-BC23BE8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BC613-298A-4239-8E8F-BE6F248C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grid-template-columns: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  repeat(3, 1fr);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D1594-A991-445F-A395-FA8206E5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repeat(3, 1fr) แปลว่า “ทำ 1fr ซ้ำ 3 ครั้ง”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3FE06-B81B-459A-BBA5-A4ABB85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เทียบกัน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BCE99-946F-46B8-8E87-6F5EC4E1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1fr  1fr  1fr</a:t>
            </a:r>
          </a:p>
          <a:p xmlns:a="http://schemas.openxmlformats.org/drawingml/2006/main">
            <a:pPr algn="ctr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=</a:t>
            </a:r>
          </a:p>
          <a:p xmlns:a="http://schemas.openxmlformats.org/drawingml/2006/main">
            <a:pPr algn="ctr"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repeat(3, 1fr)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0A84F-05E4-4012-8704-4A78751F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857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81BE9-FE70-45C7-8ABB-009C5639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767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01F32-B9AA-4CF9-A405-E343B5E8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857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4F40A-0441-40FA-83F5-FF6CFE3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767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52CC0-ABFC-499E-92D3-225D61CB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857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FC511-1290-47DC-BB52-23B297C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767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BE83E-9EA4-497E-8A1A-23B472F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17B74"/>
                </a:solidFill>
              </a:defRPr>
            </a:pPr>
            <a:r>
              <a:rPr sz="1275">
                <a:solidFill>
                  <a:srgbClr val="817B74"/>
                </a:solidFill>
              </a:rPr>
              <a:t>ลอง: repeat(4, 1fr)</a:t>
            </a:r>
          </a:p>
          <a:p xmlns:a="http://schemas.openxmlformats.org/drawingml/2006/main">
            <a:pPr>
              <a:defRPr sz="1275">
                <a:solidFill>
                  <a:srgbClr val="817B74"/>
                </a:solidFill>
              </a:defRPr>
            </a:pPr>
            <a:r>
              <a:rPr sz="1275">
                <a:solidFill>
                  <a:srgbClr val="817B74"/>
                </a:solidFill>
              </a:rPr>
              <a:t>หรือ: repeat(2, 200px)</a:t>
            </a:r>
          </a:p>
        </p:txBody>
      </p:sp>
    </p:spTree>
    <p:extLst>
      <p:ext uri="{BB962C8B-B14F-4D97-AF65-F5344CB8AC3E}">
        <p14:creationId xmlns:p14="http://schemas.microsoft.com/office/powerpoint/2010/main" val="1526229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CC29C-13C0-437E-9DC6-1407A3B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69D2C-FB01-4D55-9E82-A3832696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40E61-7E0C-4E45-9672-EB309DE7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1A05A-7223-41C8-9642-2C857C2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4: กำหนดความสูงของแถว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7FDF0-144D-41D3-A9B2-2C163932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เลือกใช้ grid-template-rows หรือ grid-auto-rows ตามลักษณะงาน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9B979-7DFC-4ADF-96FA-A86F8957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6C33D-066A-4916-A2AC-BAC90644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grid-template-columns: repeat(3, 1fr);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grid-auto-rows: 160px;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26F6D-FAF5-4640-9864-C481514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grid-auto-rows ตั้งความสูงเริ่มต้นให้ทุกแถวที่ Grid สร้างเพิ่มเอง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A2B70-6D00-43B1-B213-71106860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ทุกแถวสูง 160px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60F27-F4F8-4B37-B2FE-44EAEE2A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857250" cy="952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D8DC3-CD7E-4083-AC17-BCA5B60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406D1-5FFB-40EF-B214-A28EAAEF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857250" cy="952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9D0D2-5F78-47F6-BCB9-CCAFC79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051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F2412-E9AE-4BB7-8331-68672247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857250" cy="952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4E75C-E611-4500-9715-A7838C6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F57B5-4F26-46D4-ADF7-4D74D9EC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857250" cy="952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38BFA-ED3E-4797-8142-A12289E8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CAB14-2A13-46CE-B382-EDEA0790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857250" cy="952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71220-6D9C-4489-A8CF-6DAA80FD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719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456B7-3B33-4275-BFA3-DD554008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857250" cy="952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31FCA-4CC1-48D6-A240-91F7EF61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7A480-4246-4017-A25D-BD00F481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17B74"/>
                </a:solidFill>
              </a:defRPr>
            </a:pPr>
            <a:r>
              <a:rPr sz="1200">
                <a:solidFill>
                  <a:srgbClr val="817B74"/>
                </a:solidFill>
              </a:rPr>
              <a:t>ถ้ารู้จำนวนแถวแน่นอน ใช้:</a:t>
            </a:r>
          </a:p>
          <a:p xmlns:a="http://schemas.openxmlformats.org/drawingml/2006/main">
            <a:pPr>
              <a:defRPr sz="1200">
                <a:solidFill>
                  <a:srgbClr val="817B74"/>
                </a:solidFill>
              </a:defRPr>
            </a:pPr>
            <a:r>
              <a:rPr sz="1200">
                <a:solidFill>
                  <a:srgbClr val="817B74"/>
                </a:solidFill>
              </a:rPr>
              <a:t>grid-template-rows: 160px 160px;</a:t>
            </a:r>
          </a:p>
        </p:txBody>
      </p:sp>
    </p:spTree>
    <p:extLst>
      <p:ext uri="{BB962C8B-B14F-4D97-AF65-F5344CB8AC3E}">
        <p14:creationId xmlns:p14="http://schemas.microsoft.com/office/powerpoint/2010/main" val="2029979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A8534-79B5-471A-BD31-57B79EA8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48C5A-923B-46B0-8B8F-9E055900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6F1D2-F4C3-4798-8A6D-CC8B35E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ADFF-796F-4064-8040-7E5BA35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5: เพิ่มระยะห่างด้วย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3DD49-C593-4209-ACB9-A8564E5D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เว้นช่องว่างระหว่าง Item โดยไม่ต้องใส่ margin ทีละกล่อง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CF68D-A84A-4305-8BF2-C545035E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A3E0E-0092-4A76-8B75-791EDFF9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grid-template-columns: repeat(3, 1fr);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gap: 16px;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BA6BF-49A8-41BC-B064-D5F4F083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gap: 16px ใช้กับทั้งแถวและคอลัมน์  •  ใช้ row-gap / column-gap เมื่อต้องการคนละค่า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5569F-7A53-41FE-895A-52E3118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ผลลัพธ์: ช่องว่าง 16px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7BBF4-08AC-4BDF-8DCC-376D82D2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EA3B6-6762-4B8B-85D5-CB7637D2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574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35CF6-96D6-4483-8FD7-D55009E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4034A-EDDB-4569-9D40-741F459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574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5A367-9D76-4A35-8888-02A92668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011E5-1E26-4615-B6A1-27382DB0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574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DEEAF-FC7A-4801-8C93-B91DFE2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ACE9B-30DC-4563-8D2D-9B84D117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480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F7692-0E05-45FE-9257-E452623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308BB-1E46-44B1-96BA-60F51836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480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D4E9C-0E32-4E56-91D8-EA40A36A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BA7BC-5B95-4FCF-A813-D70BF70B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480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8C901-D1C7-47E5-B09B-17A49D8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17B74"/>
                </a:solidFill>
              </a:defRPr>
            </a:pPr>
            <a:r>
              <a:rPr sz="1275">
                <a:solidFill>
                  <a:srgbClr val="817B74"/>
                </a:solidFill>
              </a:rPr>
              <a:t>gap: 12px 24px;</a:t>
            </a:r>
          </a:p>
          <a:p xmlns:a="http://schemas.openxmlformats.org/drawingml/2006/main">
            <a:pPr>
              <a:defRPr sz="1275">
                <a:solidFill>
                  <a:srgbClr val="817B74"/>
                </a:solidFill>
              </a:defRPr>
            </a:pPr>
            <a:r>
              <a:rPr sz="1275">
                <a:solidFill>
                  <a:srgbClr val="817B74"/>
                </a:solidFill>
              </a:rPr>
              <a:t>แถว 12px  •  คอลัมน์ 24px</a:t>
            </a:r>
          </a:p>
        </p:txBody>
      </p:sp>
    </p:spTree>
    <p:extLst>
      <p:ext uri="{BB962C8B-B14F-4D97-AF65-F5344CB8AC3E}">
        <p14:creationId xmlns:p14="http://schemas.microsoft.com/office/powerpoint/2010/main" val="15756884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09F7F-C686-4144-A922-BBD7C0C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D0631-977F-48E6-9BF2-469FFAE1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BFD04-7414-4578-8AE3-680AA200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CA55D-CF34-4304-A084-33FDF65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6: ระบุตำแหน่งด้วย Grid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EADDE-B6BE-4118-AEAC-6BFCC31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Grid 3 คอลัมน์มีเส้นแนวตั้ง 4 เส้น: 1, 2, 3 และ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65FB9-F9F9-4A80-BDD7-5F13EA6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86AB0-F56A-4DCF-AF12-D21B6D7C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.item:first-child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grid-column: 1 / 3;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CEEC4-C015-4D30-A5D4-A5F3BA2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เริ่มที่เส้น 1 และจบก่อนเส้น 3 → Item แรกจึงกินคอลัมน์ที่ 1 และ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9DFFF-F8DD-485D-A617-5D69269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เส้นกริด: 1     2     3    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1DF1D-DDEB-432B-AA94-648B82F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190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DAE0A-1E6F-4E11-8AF1-B430932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190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9BC8E-BA8A-42F5-B820-72CB8B5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190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FDD5F-3A9A-40E6-BEAA-13BFFC2A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86000"/>
            <a:ext cx="190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61048-D60C-4795-AE30-B00966FA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1619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5EDA9-E0F6-4674-9A70-D13BB1E0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2"/>
                </a:solidFill>
              </a:defRPr>
            </a:pPr>
            <a:r>
              <a:rPr sz="1350" b="1">
                <a:solidFill>
                  <a:srgbClr val="F4F4F2"/>
                </a:solidFill>
              </a:rPr>
              <a:t>1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CB41A-EE15-4A22-879C-4FE6C31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762000" cy="971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670B1-829F-41B6-9C04-BED52E83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89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58916-2A56-4F29-9E77-4662C3FB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762000" cy="971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59948-E7BE-4ED6-B364-B523177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338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28455-66E4-4B75-AF3B-CB1A18B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81400"/>
            <a:ext cx="762000" cy="971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FC568-A96C-4AB8-9BEB-B2D06E4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338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69836-BFFC-4B16-9029-1122964E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762000" cy="971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074A5-A759-44E8-A10D-18911C0F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86C37-54F8-4349-9AA0-4F37F5E6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3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17B74"/>
                </a:solidFill>
              </a:defRPr>
            </a:pPr>
            <a:r>
              <a:rPr sz="1200">
                <a:solidFill>
                  <a:srgbClr val="817B74"/>
                </a:solidFill>
              </a:rPr>
              <a:t>รูปแบบ: grid-column: เริ่ม / สิ้นสุด;</a:t>
            </a:r>
          </a:p>
        </p:txBody>
      </p:sp>
    </p:spTree>
    <p:extLst>
      <p:ext uri="{BB962C8B-B14F-4D97-AF65-F5344CB8AC3E}">
        <p14:creationId xmlns:p14="http://schemas.microsoft.com/office/powerpoint/2010/main" val="90725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8F7EC-0290-4878-956F-28EC56AB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1B02F-59BE-485A-B23D-111D1A74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E7F86-8DB2-43D2-ABC1-F02F70D9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D916F-0D76-4F4E-B57D-8F1BD20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7: ใช้ span เพื่อขยาย Item แบบอ่านง่าย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0C80E-6FC2-4E8C-A024-CA450DAE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span หมายถึง “ให้กล่องกินจำนวนช่องนี้”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F93C6-2037-4FB5-9E6F-BEFC7A55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A7884-ECC6-44CC-B59C-0F209B01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.item--featured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grid-column: span 2;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grid-row: span 2;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A6F3-0F38-441D-BD45-5FB17935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ภาพเด่นกินพื้นที่ 2 คอลัมน์ × 2 แถว ส่วน Grid จะจัดภาพอื่นลงช่องที่เหลือ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11D4C-3103-45B6-BC54-BB9736A5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ผลลัพธ์ของ span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BC409-B42A-465B-801E-4D14D57D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7526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44F4A-D9A0-47F0-B082-2E7C1DC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2"/>
                </a:solidFill>
              </a:defRPr>
            </a:pPr>
            <a:r>
              <a:rPr sz="1275" b="1">
                <a:solidFill>
                  <a:srgbClr val="F4F4F2"/>
                </a:solidFill>
              </a:rPr>
              <a:t>FEATURED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C60BE-A9E7-404F-9194-C090E281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B4F02-DB10-4899-B300-BC951962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193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09399-D025-4E4A-8EB8-3BAB4E89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D2DE9-3F56-407E-9275-19EED2A8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528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181FB-B5BA-4BF5-9A50-011E334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D6352-F2CF-479B-A3F5-68128C5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05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3B31D-88B7-4E91-B5CD-989A9000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291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844AF-CE6F-40CF-AA9E-DADCF16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05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CBDC7-E071-4ECC-A9C3-4ED84CF4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753269-02A7-40CD-8397-F74BD6F1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2"/>
                </a:solidFill>
              </a:defRPr>
            </a:pPr>
            <a:r>
              <a:rPr sz="1350" b="1">
                <a:solidFill>
                  <a:srgbClr val="F4F4F2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D1573-A97A-4BDF-B85D-A2A5B7E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17B74"/>
                </a:solidFill>
              </a:defRPr>
            </a:pPr>
            <a:r>
              <a:rPr sz="1200">
                <a:solidFill>
                  <a:srgbClr val="817B74"/>
                </a:solidFill>
              </a:rPr>
              <a:t>ภาพกว้าง: grid-column: span 2;</a:t>
            </a:r>
          </a:p>
          <a:p xmlns:a="http://schemas.openxmlformats.org/drawingml/2006/main">
            <a:pPr>
              <a:defRPr sz="1200">
                <a:solidFill>
                  <a:srgbClr val="817B74"/>
                </a:solidFill>
              </a:defRPr>
            </a:pPr>
            <a:r>
              <a:rPr sz="1200">
                <a:solidFill>
                  <a:srgbClr val="817B74"/>
                </a:solidFill>
              </a:rPr>
              <a:t>ภาพสูง: grid-row: span 2;</a:t>
            </a:r>
          </a:p>
        </p:txBody>
      </p:sp>
    </p:spTree>
    <p:extLst>
      <p:ext uri="{BB962C8B-B14F-4D97-AF65-F5344CB8AC3E}">
        <p14:creationId xmlns:p14="http://schemas.microsoft.com/office/powerpoint/2010/main" val="4884149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38B5C-C3AA-428E-BB40-9285B4B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C4DC9-4227-47D8-BFBA-0DD4F22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6DB24-73F9-46FB-990E-54EA7BB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0C3F2-00CE-4553-ACA9-3E21F91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ตั้งชื่อพื้นที่ของหน้าเว็บด้วย grid-template-areas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C7FFE-8018-4DD3-A53E-130904E5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เหมาะกับหน้าเว็บที่มี Header, Sidebar, Main และ Footer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B660E-2D68-47B0-841C-B2ECBB5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5EA3-26AB-4F0A-B252-B823F0AF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.page {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  grid-template-areas: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    "header header"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    "sidebar main"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    "footer footer";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87007-4602-4634-BB54-60B2218D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กำหนดชื่อพื้นที่ก่อน แล้วใส่ grid-area: ชื่อพื้นที่ ให้แต่ละส่วน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8084F-B76E-4147-A7ED-A9C71385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แผนผังที่อ่านได้จาก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BC89C-5007-4756-9EAC-B3BDD7FD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333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EA27D-BBBC-4A95-914C-9ED5BF51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2"/>
                </a:solidFill>
              </a:defRPr>
            </a:pPr>
            <a:r>
              <a:rPr sz="1350" b="1">
                <a:solidFill>
                  <a:srgbClr val="F4F4F2"/>
                </a:solidFill>
              </a:rPr>
              <a:t>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5E553-7B2F-4841-A9D5-9380062B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181100" cy="1619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9A2E0-4F0A-46A8-9CBD-7074C889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86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SIDEBAR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6F193-4193-4F79-B703-F2C9AD82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09900"/>
            <a:ext cx="20193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4F03F-DDC8-4D90-A833-1F160B3A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61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1EE77-F1EB-4873-8BC3-0571DAA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3333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CA384-3D39-44B7-B683-82B065A2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768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2"/>
                </a:solidFill>
              </a:defRPr>
            </a:pPr>
            <a:r>
              <a:rPr sz="1350" b="1">
                <a:solidFill>
                  <a:srgbClr val="F4F4F2"/>
                </a:solidFill>
              </a:rPr>
              <a:t>FOOTER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33913-F9BF-4F89-AF86-2386BB86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24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17B74"/>
                </a:solidFill>
              </a:defRPr>
            </a:pPr>
            <a:r>
              <a:rPr sz="1125">
                <a:solidFill>
                  <a:srgbClr val="817B74"/>
                </a:solidFill>
              </a:rPr>
              <a:t>header { grid-area: header; }</a:t>
            </a:r>
          </a:p>
        </p:txBody>
      </p:sp>
    </p:spTree>
    <p:extLst>
      <p:ext uri="{BB962C8B-B14F-4D97-AF65-F5344CB8AC3E}">
        <p14:creationId xmlns:p14="http://schemas.microsoft.com/office/powerpoint/2010/main" val="10454961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DCB16-D796-476B-96C9-518F70CE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702CF-41B6-4A47-BB0F-7BA1BF6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6EDF2-2142-4440-880C-E902CA96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D258B-599F-4CFA-9E03-C589BA28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8: ใช้ minmax() เพื่อกำหนดขนาดขั้นต่ำ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337D5-9FBD-48F8-8519-ABE658D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กันไม่ให้คอลัมน์แคบเกินจนเนื้อหาอ่านยาก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49081-471A-4138-A737-BF637B02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CEE24-CFD8-45CF-8907-DAB4FDC9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grid-template-columns: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    repeat(3, minmax(180px, 1fr));</a:t>
            </a:r>
          </a:p>
          <a:p xmlns:a="http://schemas.openxmlformats.org/drawingml/2006/main">
            <a:pPr>
              <a:defRPr sz="1200">
                <a:solidFill>
                  <a:srgbClr val="F4F4F2"/>
                </a:solidFill>
              </a:defRPr>
            </a:pPr>
            <a:r>
              <a:rPr sz="120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E9D39-1332-4340-BD40-8D66CC1F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minmax(180px, 1fr) = กว้างอย่างน้อย 180px และขยายได้ถึงส่วนของพื้นที่ที่เหลือ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CEDA4-3C70-4979-BD35-7C45882D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หนึ่งคอลัมน์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50883-DF26-47EF-822B-EC797AA8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D3078-3582-4514-B882-47F3D811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ขั้นต่ำ 180px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E1549-B799-4197-A7EC-67A77F7F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0A0A"/>
                </a:solidFill>
              </a:defRPr>
            </a:pPr>
            <a:r>
              <a:rPr sz="2100" b="1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870CD-A4D4-40D5-9D74-E9360FF3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1238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AA911-4C36-4D56-8B28-ABC3573F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4F2"/>
                </a:solidFill>
              </a:defRPr>
            </a:pPr>
            <a:r>
              <a:rPr sz="1200" b="1">
                <a:solidFill>
                  <a:srgbClr val="F4F4F2"/>
                </a:solidFill>
              </a:rPr>
              <a:t>ขยายได้ 1fr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2C953-79E1-4B02-A8AD-CCCC41B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ยังมี repeat(3, ...) อยู่</a:t>
            </a:r>
          </a:p>
          <a:p xmlns:a="http://schemas.openxmlformats.org/drawingml/2006/main">
            <a:pPr>
              <a:defRPr sz="1500" b="1">
                <a:solidFill>
                  <a:srgbClr val="0A0A0A"/>
                </a:solidFill>
              </a:defRPr>
            </a:pPr>
            <a:r>
              <a:rPr sz="1500" b="1">
                <a:solidFill>
                  <a:srgbClr val="0A0A0A"/>
                </a:solidFill>
              </a:rPr>
              <a:t>จึงพยายามรักษา 3 คอลัมน์เสมอ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B760E-7DE0-472E-9776-EAF4A5A5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ขั้นถัดไป: ให้เบราว์เซอร์เลือกจำนวนคอลัมน์เอง</a:t>
            </a:r>
          </a:p>
        </p:txBody>
      </p:sp>
    </p:spTree>
    <p:extLst>
      <p:ext uri="{BB962C8B-B14F-4D97-AF65-F5344CB8AC3E}">
        <p14:creationId xmlns:p14="http://schemas.microsoft.com/office/powerpoint/2010/main" val="2715352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DA3ED-D368-4D78-9270-25FECD92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D2CFE-CB02-429B-83ED-C1BBAEA2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F0F7D-DCA0-492F-A087-4A387B70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B1603-1306-4493-9CC1-12A5F34C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9: auto-fit ทำให้จำนวนคอลัมน์ปรับเอง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C8DC8-9953-4210-876E-91D4118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คำสั่งสำคัญสำหรับ Gallery ที่รองรับหลายขนาดหน้าจอ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D99F5-0BFC-4941-83D7-01E6B0BB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C5F06-2DB2-41C1-8769-F75B921B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  grid-template-columns: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    repeat(auto-fit, minmax(180px, 1fr));</a:t>
            </a:r>
          </a:p>
          <a:p xmlns:a="http://schemas.openxmlformats.org/drawingml/2006/main">
            <a:pPr>
              <a:defRPr sz="1125">
                <a:solidFill>
                  <a:srgbClr val="F4F4F2"/>
                </a:solidFill>
              </a:defRPr>
            </a:pPr>
            <a:r>
              <a:rPr sz="1125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CDAE4-0E1A-4A95-A527-3AB3696E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เบราว์เซอร์สร้างคอลัมน์ได้มากเท่าที่พื้นที่พอ โดยแต่ละช่องไม่แคบกว่า 180px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CB545-36D3-4D7B-8CE7-B17828F1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หน้าจอกว้าง → 4 คอลัมน์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BEB4F-67C8-4C34-9CD1-48B287A9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609600" cy="819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0E435-2533-4981-86F7-6B08C992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03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FF1DF-5BFB-4A08-96A0-BBEEA1A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609600" cy="819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BAF34-1AF3-405B-AA97-7F192DD0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8D928-66AF-4B9C-A34C-362B7EA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24100"/>
            <a:ext cx="609600" cy="819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4CC80-3B6A-425B-BE9D-44ED6495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03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D5A6A-E56B-487A-99BB-3844D772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609600" cy="8191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9694C-263D-42A0-B4FF-BBCC466F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03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A16E1-9DCB-4B2E-AEB4-428594AA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หน้าจอแคบ → 2 คอลัมน์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7D6DA-5EFF-4BE7-AAF5-0452CF15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1333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4AC86-926F-4B0D-B4D3-49A7DD2B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005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C4E59-5D01-4359-8CF0-C98A135C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1333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C3594-BA87-473E-88DF-ACA32270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005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45CC5-B050-409A-B294-DDB4D58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17B74"/>
                </a:solidFill>
              </a:defRPr>
            </a:pPr>
            <a:r>
              <a:rPr sz="1425" b="1">
                <a:solidFill>
                  <a:srgbClr val="817B74"/>
                </a:solidFill>
              </a:rPr>
              <a:t>ไม่ต้องเขียน Media Query เพื่อเปลี่ยนจำนวนคอลัมน์</a:t>
            </a:r>
          </a:p>
        </p:txBody>
      </p:sp>
    </p:spTree>
    <p:extLst>
      <p:ext uri="{BB962C8B-B14F-4D97-AF65-F5344CB8AC3E}">
        <p14:creationId xmlns:p14="http://schemas.microsoft.com/office/powerpoint/2010/main" val="218042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7C5E7-C579-40B2-B871-666B9EE8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1B5E3-7497-4D36-BF53-B77175D9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AB1FC-92F0-455B-B41F-DC2E09C4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4B940-8F83-4E82-B1D5-D0E1C2F3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ขั้นที่ 10: ปรับภาพเด่นเมื่อหน้าจอเล็กมาก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80763-3F56-4A87-9F66-6C01EC57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auto-fit ดูแลจำนวนคอลัมน์ ส่วน Media Query ดูแล Item ที่กินหลายช่อง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57544-6BEC-466E-9049-76D36EC1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D3B6A-A49F-4BBE-890C-6F525F4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1148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@media (max-width: 480px) {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.item--wide,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.item--tall,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.item--featured {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  grid-column: span 1;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  grid-row: span 1;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}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4791B-7ED6-45D4-9D22-C5DA4B4B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0A0A"/>
                </a:solidFill>
              </a:defRPr>
            </a:pPr>
            <a:r>
              <a:rPr sz="1575" b="1">
                <a:solidFill>
                  <a:srgbClr val="0A0A0A"/>
                </a:solidFill>
              </a:rPr>
              <a:t>ที่มือถือ ภาพเด่นกลับมากิน 1 ช่อง จึงไม่มีภาพใหญ่เกินหรือแถบเลื่อนแนวนอน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17C55-561E-4F1B-9705-FAD8760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885E7-5071-4CDF-97D2-EA2E6D4F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1733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EB3C8-2290-4C1F-828E-31245AA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670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2"/>
                </a:solidFill>
              </a:defRPr>
            </a:pPr>
            <a:r>
              <a:rPr sz="1125" b="1">
                <a:solidFill>
                  <a:srgbClr val="F4F4F2"/>
                </a:solidFill>
              </a:rPr>
              <a:t>FEATURED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9E39D-2299-4915-945C-C30D1B56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723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A2F2C-1A5B-4DB3-81F8-052B7F39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860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1D5B6-B0C0-4CA5-85B5-01D586BC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48000"/>
            <a:ext cx="723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A1401-D71F-4853-9438-A8FC8E44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480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9BC1A-5165-4DD6-8A1F-D75A3C0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Mobile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DA7B2-D439-450A-9CDA-EC56633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975A3-F13F-46B2-95EA-0F4062EE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6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4F2"/>
                </a:solidFill>
              </a:defRPr>
            </a:pPr>
            <a:r>
              <a:rPr sz="975" b="1">
                <a:solidFill>
                  <a:srgbClr val="F4F4F2"/>
                </a:solidFill>
              </a:rPr>
              <a:t>FEATURED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235E5-5392-4B59-B7D0-B98102E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38650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E802D-94E5-443F-A7A6-12F6C490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76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91F50-6348-483C-B314-EF879E0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A16CD-1E27-4EF9-9F0A-7B2C541C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4071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1A374-006C-4067-ABD6-C03E9AAB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1C8E3-4328-479E-9A10-D023E5D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193C4-9915-492C-8DB8-3AAFF2F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93A9F-71C0-4406-BD32-B52845BB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รวมคำสั่งเป็น CSS ของ Gallery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FBC56-DB58-484E-8761-EA4B54E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เมื่อนำทุกขั้นมารวมกัน จะได้แกนหลักของแกลเลอรีที่ใช้งานจริง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8E388-CF28-48CC-A368-33824EF9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0537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458E7-4D73-4D20-B7EA-DA919E1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444817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.gallery {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display: grid;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grid-template-columns: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  repeat(auto-fit, minmax(180px, 1fr));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grid-auto-rows: 160px;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gap: 16px;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.item--wide { grid-column: span 2; }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.item--tall { grid-row: span 2; }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.item--featured {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grid-column: span 2;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grid-row: span 2;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910C5-11DC-4AC2-8921-14B880A2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ผลลัพธ์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9420D-031D-4486-B8CF-E80C4BF6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6954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8BC4F-FB9A-4FCB-B86C-7DD5E8CD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4F2"/>
                </a:solidFill>
              </a:defRPr>
            </a:pPr>
            <a:r>
              <a:rPr sz="1200" b="1">
                <a:solidFill>
                  <a:srgbClr val="F4F4F2"/>
                </a:solidFill>
              </a:rPr>
              <a:t>FEATURED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96077-EAEB-4E54-8A39-70D6AAA8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82D61-20E2-4BF2-9C3D-679EA8CA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03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01607-4E26-45CA-A850-B8F25AC4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62BAE-F332-41D9-B731-33C99E62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147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F9A9F-37C9-48F9-85F9-1D0BDC4C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FBF08-A2FB-4CE1-871A-3AC7B8FB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291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AF1DD-F1C7-4CAD-98B9-219E4A6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71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FB2A0-C497-4C4F-8B75-BF51E39F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291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5A768-1B76-4265-81F3-79E3C118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817B74"/>
          </a:solidFill>
          <a:ln xmlns:a="http://schemas.openxmlformats.org/drawingml/2006/main" w="0">
            <a:solidFill>
              <a:srgbClr val="817B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E54CD-8740-4C08-AED4-5E718B5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29125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2"/>
                </a:solidFill>
              </a:defRPr>
            </a:pPr>
            <a:r>
              <a:rPr sz="1350" b="1">
                <a:solidFill>
                  <a:srgbClr val="F4F4F2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F6E9D-256A-49A1-A400-95A95EF6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17B74"/>
                </a:solidFill>
              </a:defRPr>
            </a:pPr>
            <a:r>
              <a:rPr sz="1200" b="1">
                <a:solidFill>
                  <a:srgbClr val="817B74"/>
                </a:solidFill>
              </a:rPr>
              <a:t>ภาพ: width: 100%; height: 100%;</a:t>
            </a:r>
          </a:p>
          <a:p xmlns:a="http://schemas.openxmlformats.org/drawingml/2006/main">
            <a:pPr>
              <a:defRPr sz="1200" b="1">
                <a:solidFill>
                  <a:srgbClr val="817B74"/>
                </a:solidFill>
              </a:defRPr>
            </a:pPr>
            <a:r>
              <a:rPr sz="1200" b="1">
                <a:solidFill>
                  <a:srgbClr val="817B74"/>
                </a:solidFill>
              </a:rPr>
              <a:t>object-fit: cover;</a:t>
            </a:r>
          </a:p>
        </p:txBody>
      </p:sp>
    </p:spTree>
    <p:extLst>
      <p:ext uri="{BB962C8B-B14F-4D97-AF65-F5344CB8AC3E}">
        <p14:creationId xmlns:p14="http://schemas.microsoft.com/office/powerpoint/2010/main" val="11949352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86109-170F-4546-A62D-A0EC923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6AEBD-AC59-447D-A22D-F59258CF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C710E-B449-44F2-A25F-F4BD7DA9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8E912-8D74-4A66-9F0B-441725F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HTML ที่วางภาพลงใน Gallery Grid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E9CBB-B8C2-4EBC-ADE1-69D7A645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ใช้ชื่อคลาสบอกหน้าที่ของภาพ และใส่ alt เพื่ออธิบายภาพเสมอ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9F45B-6713-43E8-BE31-1AF22566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5300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D1D1B"/>
          </a:solidFill>
          <a:ln xmlns:a="http://schemas.openxmlformats.org/drawingml/2006/main" w="0">
            <a:solidFill>
              <a:srgbClr val="1D1D1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1E6CF-9667-4628-B4B8-4C66B88D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44958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&lt;main class="gallery"&gt;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&lt;article class="item item--featured"&gt;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  &lt;img src="featured.jpg"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       alt="ภาพทิวทัศน์เด่น"&gt;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&lt;/article&gt;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&lt;article class="item item--wide"&gt;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  &lt;img src="city.jpg"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       alt="ภาพเมืองยามเย็น"&gt;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&lt;/article&gt;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  &lt;article class="item"&gt;...&lt;/article&gt;</a:t>
            </a:r>
          </a:p>
          <a:p xmlns:a="http://schemas.openxmlformats.org/drawingml/2006/main">
            <a:pPr>
              <a:defRPr sz="1050">
                <a:solidFill>
                  <a:srgbClr val="F4F4F2"/>
                </a:solidFill>
              </a:defRPr>
            </a:pPr>
            <a:r>
              <a:rPr sz="1050">
                <a:solidFill>
                  <a:srgbClr val="F4F4F2"/>
                </a:solidFill>
              </a:rPr>
              <a:t>&lt;/main&gt;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46C53-D98B-4E96-986A-B9E5C2FC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17B74"/>
                </a:solidFill>
              </a:defRPr>
            </a:pPr>
            <a:r>
              <a:rPr sz="1350" b="1">
                <a:solidFill>
                  <a:srgbClr val="817B74"/>
                </a:solidFill>
              </a:rPr>
              <a:t>สิ่งที่ต้องตรวจ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78FC8-A8EC-480B-A3B5-F8A5216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1E458-8D37-4D3A-8F9E-D138FAF4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336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.gallery เป็นกล่องแม่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783D3-6A47-43E1-B1A3-021819C4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BD895-1035-4706-8FD8-D2EA7604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6227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.item เป็นลูกโดยตรง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B4D0B-1B89-46F0-B9BD-3F0DF7F9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EFD21-A033-4D30-A1C6-C3852514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909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ใช้ --featured / --wide / --tall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2C802-B8DB-4CD5-9AEA-D8DF2275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92755-4EB8-4D9B-B36F-1D2C3026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1957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img ทุกภาพต้องมี alt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0EB54-A469-437B-9450-3399709C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17B74"/>
                </a:solidFill>
              </a:defRPr>
            </a:pPr>
            <a:r>
              <a:rPr sz="1575" b="1">
                <a:solidFill>
                  <a:srgbClr val="817B74"/>
                </a:solidFill>
              </a:rPr>
              <a:t>อย่าใส่ Grid ที่ &lt;img&gt; โดยตรง</a:t>
            </a:r>
          </a:p>
          <a:p xmlns:a="http://schemas.openxmlformats.org/drawingml/2006/main">
            <a:pPr>
              <a:defRPr sz="1575" b="1">
                <a:solidFill>
                  <a:srgbClr val="817B74"/>
                </a:solidFill>
              </a:defRPr>
            </a:pPr>
            <a:r>
              <a:rPr sz="1575" b="1">
                <a:solidFill>
                  <a:srgbClr val="817B74"/>
                </a:solidFill>
              </a:rPr>
              <a:t>ให้วาง Grid ที่ .gallery</a:t>
            </a:r>
          </a:p>
        </p:txBody>
      </p:sp>
    </p:spTree>
    <p:extLst>
      <p:ext uri="{BB962C8B-B14F-4D97-AF65-F5344CB8AC3E}">
        <p14:creationId xmlns:p14="http://schemas.microsoft.com/office/powerpoint/2010/main" val="2386253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09792-6ECC-4AFE-88B0-B5BDB53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76300"/>
            <a:ext cx="381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B1304-C9A1-45CF-96B2-2257839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09700"/>
            <a:ext cx="266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W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B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S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I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T</a:t>
            </a:r>
          </a:p>
          <a:p xmlns:a="http://schemas.openxmlformats.org/drawingml/2006/main">
            <a:pPr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79B99-0E71-4D50-9D98-A0B100E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7B74"/>
                </a:solidFill>
              </a:defRPr>
            </a:pPr>
            <a:r>
              <a:rPr sz="900" b="1">
                <a:solidFill>
                  <a:srgbClr val="817B74"/>
                </a:solidFill>
              </a:rPr>
              <a:t>21909-1006  •  WEEK 10  •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1B128-18BD-41E7-B36C-BCADEBC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A0A0A"/>
                </a:solidFill>
              </a:defRPr>
            </a:pPr>
            <a:r>
              <a:rPr sz="2850" b="1">
                <a:solidFill>
                  <a:srgbClr val="0A0A0A"/>
                </a:solidFill>
              </a:rPr>
              <a:t>LAB 10: สร้าง Gallery Grid และตรวจทุกขนาดจอ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AAEEF-F8E3-42E8-9C2D-D6BAB89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900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17B74"/>
                </a:solidFill>
              </a:defRPr>
            </a:pPr>
            <a:r>
              <a:rPr sz="1350">
                <a:solidFill>
                  <a:srgbClr val="817B74"/>
                </a:solidFill>
              </a:rPr>
              <a:t>ทำให้ครบตามลำดับ แล้วค่อยเพิ่มสี ภาพ และความสวยงาม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B3B40-FB55-4389-971D-88962022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AB44C-F172-4524-98FC-671130AD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0F947-4147-458F-9153-7CB078C7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24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สร้าง .gallery และภาพอย่างน้อย 8 ภาพ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E7328-5A27-4461-8515-0688103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20C44-D9DE-456C-A44D-40FB810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32969-FA90-436D-A9A8-251D4F5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ใช้ auto-fit + minmax(180px, 1fr)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7AFFF-CD03-40DC-A638-DDCA1F5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4E0"/>
          </a:solidFill>
          <a:ln xmlns:a="http://schemas.openxmlformats.org/drawingml/2006/main" w="0">
            <a:solidFill>
              <a:srgbClr val="E6E4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2B85E-DCD4-4BB9-9DDA-F2A97A6B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12D68-2E89-4502-A63B-603AFC9C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194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มีภาพเด่น 1 ภาพ, ภาพกว้าง 1 ภาพ, ภาพสูง 1 ภาพ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EE77D-AF5F-4DC7-98DF-34C5422C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8B3AB"/>
          </a:solidFill>
          <a:ln xmlns:a="http://schemas.openxmlformats.org/drawingml/2006/main" w="0">
            <a:solidFill>
              <a:srgbClr val="B8B3A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EE6AF-59E8-4560-BF91-1C0EAD14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A0A0A"/>
                </a:solidFill>
              </a:defRPr>
            </a:pPr>
            <a:r>
              <a:rPr sz="1275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657C5-216F-40C1-BA8D-67C50CE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671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A0A0A"/>
                </a:solidFill>
              </a:defRPr>
            </a:pPr>
            <a:r>
              <a:rPr sz="1650" b="0">
                <a:solidFill>
                  <a:srgbClr val="0A0A0A"/>
                </a:solidFill>
              </a:rPr>
              <a:t>ใช้ object-fit: cover และ alt ทุกภาพ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BCA11-A805-4023-87F3-E2EEFBF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43434"/>
          </a:solidFill>
          <a:ln xmlns:a="http://schemas.openxmlformats.org/drawingml/2006/main" w="0">
            <a:solidFill>
              <a:srgbClr val="3434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7D8A3-460F-4FC5-AA3E-B6B1E34A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005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2"/>
                </a:solidFill>
              </a:defRPr>
            </a:pPr>
            <a:r>
              <a:rPr sz="1275" b="1">
                <a:solidFill>
                  <a:srgbClr val="F4F4F2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C40DB-1568-4DE0-AB06-7D4BC055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148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0A0A"/>
                </a:solidFill>
              </a:defRPr>
            </a:pPr>
            <a:r>
              <a:rPr sz="1650" b="1">
                <a:solidFill>
                  <a:srgbClr val="0A0A0A"/>
                </a:solidFill>
              </a:rPr>
              <a:t>ทดสอบ Desktop / Tablet / Mobile โดยไม่มีแถบเลื่อนแนวนอน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E962A-9CC9-4967-8DE1-328580D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17B74"/>
                </a:solidFill>
              </a:defRPr>
            </a:pPr>
            <a:r>
              <a:rPr sz="1800" b="1">
                <a:solidFill>
                  <a:srgbClr val="817B74"/>
                </a:solidFill>
              </a:rPr>
              <a:t>คิดเป็นโครงสร้าง → เขียนทีละคำสั่ง → ดูผลลัพธ์ → ทดสอบหน้าจอ</a:t>
            </a:r>
          </a:p>
        </p:txBody>
      </p:sp>
    </p:spTree>
    <p:extLst>
      <p:ext uri="{BB962C8B-B14F-4D97-AF65-F5344CB8AC3E}">
        <p14:creationId xmlns:p14="http://schemas.microsoft.com/office/powerpoint/2010/main" val="94052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2026-07-19T19:10:54.8400000Z</dcterms:created>
  <dcterms:modified xsi:type="dcterms:W3CDTF">2026-07-19T19:10:54.8400000Z</dcterms:modified>
</coreProperties>
</file>
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12db67110794d0a" /><Relationship Type="http://schemas.openxmlformats.org/officeDocument/2006/relationships/extended-properties" Target="/docProps/app.xml" Id="R8b71e35ce2f443bf" /><Relationship Type="http://schemas.openxmlformats.org/officeDocument/2006/relationships/officeDocument" Target="/ppt/presentation.xml" Id="R6db86bf4da6a4f2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e37b99023de40a2"/>
  </p:sldMasterIdLst>
  <p:notesMasterIdLst>
    <p:notesMasterId xmlns:r="http://schemas.openxmlformats.org/officeDocument/2006/relationships" r:id="R2c5dfb4f2e4542ad"/>
  </p:notesMasterIdLst>
  <p:sldIdLst>
    <p:sldId xmlns:r="http://schemas.openxmlformats.org/officeDocument/2006/relationships" id="256" r:id="R30bd48104a774dbb"/>
    <p:sldId xmlns:r="http://schemas.openxmlformats.org/officeDocument/2006/relationships" id="257" r:id="R01fe1e4c28ae4f6a"/>
    <p:sldId xmlns:r="http://schemas.openxmlformats.org/officeDocument/2006/relationships" id="258" r:id="Re6b6d25303e644d5"/>
    <p:sldId xmlns:r="http://schemas.openxmlformats.org/officeDocument/2006/relationships" id="259" r:id="R973586275cc34c48"/>
    <p:sldId xmlns:r="http://schemas.openxmlformats.org/officeDocument/2006/relationships" id="260" r:id="R3d1a3c9720de4585"/>
    <p:sldId xmlns:r="http://schemas.openxmlformats.org/officeDocument/2006/relationships" id="261" r:id="Rf38d1675dbf64784"/>
    <p:sldId xmlns:r="http://schemas.openxmlformats.org/officeDocument/2006/relationships" id="262" r:id="R3c4815f38dd64524"/>
    <p:sldId xmlns:r="http://schemas.openxmlformats.org/officeDocument/2006/relationships" id="263" r:id="R1d23722a2ce44d4b"/>
    <p:sldId xmlns:r="http://schemas.openxmlformats.org/officeDocument/2006/relationships" id="264" r:id="R7491cdadbb2049e2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58a819f534546fc" /><Relationship Type="http://schemas.openxmlformats.org/officeDocument/2006/relationships/slideMaster" Target="/ppt/slideMasters/slideMaster1.xml" Id="R1e37b99023de40a2" /><Relationship Type="http://schemas.openxmlformats.org/officeDocument/2006/relationships/notesMaster" Target="/ppt/notesMasters/notesMaster1.xml" Id="R2c5dfb4f2e4542ad" /><Relationship Type="http://schemas.openxmlformats.org/officeDocument/2006/relationships/presProps" Target="/ppt/presProps.xml" Id="Rf2b52e9eda2d4c9d" /><Relationship Type="http://schemas.openxmlformats.org/officeDocument/2006/relationships/tableStyles" Target="/ppt/tableStyles.xml" Id="Rdef7dfc2f45c4d80" /><Relationship Type="http://schemas.openxmlformats.org/officeDocument/2006/relationships/slide" Target="/ppt/slides/slide1.xml" Id="R30bd48104a774dbb" /><Relationship Type="http://schemas.openxmlformats.org/officeDocument/2006/relationships/slide" Target="/ppt/slides/slide2.xml" Id="R01fe1e4c28ae4f6a" /><Relationship Type="http://schemas.openxmlformats.org/officeDocument/2006/relationships/slide" Target="/ppt/slides/slide3.xml" Id="Re6b6d25303e644d5" /><Relationship Type="http://schemas.openxmlformats.org/officeDocument/2006/relationships/slide" Target="/ppt/slides/slide4.xml" Id="R973586275cc34c48" /><Relationship Type="http://schemas.openxmlformats.org/officeDocument/2006/relationships/slide" Target="/ppt/slides/slide5.xml" Id="R3d1a3c9720de4585" /><Relationship Type="http://schemas.openxmlformats.org/officeDocument/2006/relationships/slide" Target="/ppt/slides/slide6.xml" Id="Rf38d1675dbf64784" /><Relationship Type="http://schemas.openxmlformats.org/officeDocument/2006/relationships/slide" Target="/ppt/slides/slide7.xml" Id="R3c4815f38dd64524" /><Relationship Type="http://schemas.openxmlformats.org/officeDocument/2006/relationships/slide" Target="/ppt/slides/slide8.xml" Id="R1d23722a2ce44d4b" /><Relationship Type="http://schemas.openxmlformats.org/officeDocument/2006/relationships/slide" Target="/ppt/slides/slide9.xml" Id="R7491cdadbb2049e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4a12bc74ad0442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a469ca16c2f45d5" /><Relationship Type="http://schemas.openxmlformats.org/officeDocument/2006/relationships/notesMaster" Target="/ppt/notesMasters/notesMaster1.xml" Id="R0d80d1f4ff64475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8a40afb3cd44cd7" /><Relationship Type="http://schemas.openxmlformats.org/officeDocument/2006/relationships/notesMaster" Target="/ppt/notesMasters/notesMaster1.xml" Id="R7f446f62c9fa41d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db46efd793c428a" /><Relationship Type="http://schemas.openxmlformats.org/officeDocument/2006/relationships/notesMaster" Target="/ppt/notesMasters/notesMaster1.xml" Id="R29fc74a708b842c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db29ae4f6dd43f5" /><Relationship Type="http://schemas.openxmlformats.org/officeDocument/2006/relationships/notesMaster" Target="/ppt/notesMasters/notesMaster1.xml" Id="R970830c66d8b484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dbdbed7101e46b4" /><Relationship Type="http://schemas.openxmlformats.org/officeDocument/2006/relationships/notesMaster" Target="/ppt/notesMasters/notesMaster1.xml" Id="R6cfa029c854f471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f2357e9a9b84625" /><Relationship Type="http://schemas.openxmlformats.org/officeDocument/2006/relationships/notesMaster" Target="/ppt/notesMasters/notesMaster1.xml" Id="R87e08ec40854499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81ac51550d54a6f" /><Relationship Type="http://schemas.openxmlformats.org/officeDocument/2006/relationships/notesMaster" Target="/ppt/notesMasters/notesMaster1.xml" Id="R5d7b6921e78344f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a60c1d626d8452b" /><Relationship Type="http://schemas.openxmlformats.org/officeDocument/2006/relationships/notesMaster" Target="/ppt/notesMasters/notesMaster1.xml" Id="Rf226a4e3c45c4b2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0430492c0874d1c" /><Relationship Type="http://schemas.openxmlformats.org/officeDocument/2006/relationships/notesMaster" Target="/ppt/notesMasters/notesMaster1.xml" Id="Rb1692918e71b4b7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ce71359d1e9455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de4381bfeb340a4" /><Relationship Type="http://schemas.openxmlformats.org/officeDocument/2006/relationships/slideLayout" Target="/ppt/slideLayouts/slideLayout1.xml" Id="R3b27ed5f8e5942f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b27ed5f8e5942f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9afff29cc34d9a" /><Relationship Type="http://schemas.openxmlformats.org/officeDocument/2006/relationships/notesSlide" Target="/ppt/notesSlides/notesSlide1.xml" Id="R333d27dfb8684bd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1effb9454c4177" /><Relationship Type="http://schemas.openxmlformats.org/officeDocument/2006/relationships/notesSlide" Target="/ppt/notesSlides/notesSlide2.xml" Id="R52053ea6efe0451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7fda8f55dd4faa" /><Relationship Type="http://schemas.openxmlformats.org/officeDocument/2006/relationships/notesSlide" Target="/ppt/notesSlides/notesSlide3.xml" Id="R695b06eb98cf429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797b85a53e4999" /><Relationship Type="http://schemas.openxmlformats.org/officeDocument/2006/relationships/notesSlide" Target="/ppt/notesSlides/notesSlide4.xml" Id="R655a1982f5c444a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02af4e7d724bb8" /><Relationship Type="http://schemas.openxmlformats.org/officeDocument/2006/relationships/notesSlide" Target="/ppt/notesSlides/notesSlide5.xml" Id="R2005fa50b5a1423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5a2c00a9654f9d" /><Relationship Type="http://schemas.openxmlformats.org/officeDocument/2006/relationships/notesSlide" Target="/ppt/notesSlides/notesSlide6.xml" Id="Ra3d9ed3da6b5433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fbecdcc11e4822" /><Relationship Type="http://schemas.openxmlformats.org/officeDocument/2006/relationships/notesSlide" Target="/ppt/notesSlides/notesSlide7.xml" Id="R698e0d0fefe1400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44205720f34fb7" /><Relationship Type="http://schemas.openxmlformats.org/officeDocument/2006/relationships/notesSlide" Target="/ppt/notesSlides/notesSlide8.xml" Id="Rceb9d7fe2e254df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6f6327a9d94538" /><Relationship Type="http://schemas.openxmlformats.org/officeDocument/2006/relationships/notesSlide" Target="/ppt/notesSlides/notesSlide9.xml" Id="Ref47ee789bb14ba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4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69C29F-325E-4C81-A813-11550FC0F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876300"/>
            <a:ext cx="38100" cy="510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A0A"/>
          </a:solidFill>
          <a:ln xmlns:a="http://schemas.openxmlformats.org/drawingml/2006/main" w="0">
            <a:solidFill>
              <a:srgbClr val="0A0A0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75E6ED-8690-43BA-BC9D-DAD447667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1409700"/>
            <a:ext cx="2667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A0A0A"/>
                </a:solidFill>
              </a:defRPr>
            </a:pPr>
            <a:r>
              <a:rPr sz="1125" b="1">
                <a:solidFill>
                  <a:srgbClr val="0A0A0A"/>
                </a:solidFill>
              </a:rPr>
              <a:t>W</a:t>
            </a:r>
          </a:p>
          <a:p xmlns:a="http://schemas.openxmlformats.org/drawingml/2006/main">
            <a:pPr>
              <a:defRPr sz="1125" b="1">
                <a:solidFill>
                  <a:srgbClr val="0A0A0A"/>
                </a:solidFill>
              </a:defRPr>
            </a:pPr>
            <a:r>
              <a:rPr sz="1125" b="1">
                <a:solidFill>
                  <a:srgbClr val="0A0A0A"/>
                </a:solidFill>
              </a:rPr>
              <a:t>E</a:t>
            </a:r>
          </a:p>
          <a:p xmlns:a="http://schemas.openxmlformats.org/drawingml/2006/main">
            <a:pPr>
              <a:defRPr sz="1125" b="1">
                <a:solidFill>
                  <a:srgbClr val="0A0A0A"/>
                </a:solidFill>
              </a:defRPr>
            </a:pPr>
            <a:r>
              <a:rPr sz="1125" b="1">
                <a:solidFill>
                  <a:srgbClr val="0A0A0A"/>
                </a:solidFill>
              </a:rPr>
              <a:t>B</a:t>
            </a:r>
          </a:p>
          <a:p xmlns:a="http://schemas.openxmlformats.org/drawingml/2006/main">
            <a:pPr>
              <a:defRPr sz="1125" b="1">
                <a:solidFill>
                  <a:srgbClr val="0A0A0A"/>
                </a:solidFill>
              </a:defRPr>
            </a:pPr>
            <a:r>
              <a:rPr sz="1125" b="1">
                <a:solidFill>
                  <a:srgbClr val="0A0A0A"/>
                </a:solidFill>
              </a:rPr>
              <a:t>S</a:t>
            </a:r>
          </a:p>
          <a:p xmlns:a="http://schemas.openxmlformats.org/drawingml/2006/main">
            <a:pPr>
              <a:defRPr sz="1125" b="1">
                <a:solidFill>
                  <a:srgbClr val="0A0A0A"/>
                </a:solidFill>
              </a:defRPr>
            </a:pPr>
            <a:r>
              <a:rPr sz="1125" b="1">
                <a:solidFill>
                  <a:srgbClr val="0A0A0A"/>
                </a:solidFill>
              </a:rPr>
              <a:t>I</a:t>
            </a:r>
          </a:p>
          <a:p xmlns:a="http://schemas.openxmlformats.org/drawingml/2006/main">
            <a:pPr>
              <a:defRPr sz="1125" b="1">
                <a:solidFill>
                  <a:srgbClr val="0A0A0A"/>
                </a:solidFill>
              </a:defRPr>
            </a:pPr>
            <a:r>
              <a:rPr sz="1125" b="1">
                <a:solidFill>
                  <a:srgbClr val="0A0A0A"/>
                </a:solidFill>
              </a:rPr>
              <a:t>T</a:t>
            </a:r>
          </a:p>
          <a:p xmlns:a="http://schemas.openxmlformats.org/drawingml/2006/main">
            <a:pPr>
              <a:defRPr sz="1125" b="1">
                <a:solidFill>
                  <a:srgbClr val="0A0A0A"/>
                </a:solidFill>
              </a:defRPr>
            </a:pPr>
            <a:r>
              <a:rPr sz="1125" b="1">
                <a:solidFill>
                  <a:srgbClr val="0A0A0A"/>
                </a:solidFill>
              </a:rPr>
              <a:t>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50F4A0-7406-4C7A-82C8-C11252864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24050"/>
            <a:ext cx="8096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0A0A0A"/>
                </a:solidFill>
              </a:defRPr>
            </a:pPr>
            <a:r>
              <a:rPr sz="4350" b="1">
                <a:solidFill>
                  <a:srgbClr val="0A0A0A"/>
                </a:solidFill>
              </a:rPr>
              <a:t>พื้นฐานการสร้างเว็บไซต์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885463-9A6B-4A5F-BAAE-4CAE98ADE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24150"/>
            <a:ext cx="5810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800" b="1">
                <a:solidFill>
                  <a:srgbClr val="817B74"/>
                </a:solidFill>
              </a:defRPr>
            </a:pPr>
            <a:r>
              <a:rPr sz="4800" b="1">
                <a:solidFill>
                  <a:srgbClr val="817B74"/>
                </a:solidFill>
              </a:rPr>
              <a:t>21909-1006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528B3A-ACFD-42E7-BCB0-27222735B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33900"/>
            <a:ext cx="400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A0A0A"/>
                </a:solidFill>
              </a:defRPr>
            </a:pPr>
            <a:r>
              <a:rPr sz="1800" b="1">
                <a:solidFill>
                  <a:srgbClr val="0A0A0A"/>
                </a:solidFill>
              </a:rPr>
              <a:t>สัปดาห์ที่ 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B9AA39-2AC8-42BA-A88E-699A351E9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53000"/>
            <a:ext cx="7715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2E2B28"/>
                </a:solidFill>
              </a:defRPr>
            </a:pPr>
            <a:r>
              <a:rPr sz="2325" b="1">
                <a:solidFill>
                  <a:srgbClr val="2E2B28"/>
                </a:solidFill>
              </a:rPr>
              <a:t>การจัดโครงสร้างเลย์เอาต์ขั้นสูงด้วย CSS Grid Layout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58AA55-989C-4FF3-A1AA-EE747C4A2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19125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817B74"/>
                </a:solidFill>
              </a:defRPr>
            </a:pPr>
            <a:r>
              <a:rPr sz="900" b="1">
                <a:solidFill>
                  <a:srgbClr val="817B74"/>
                </a:solidFill>
              </a:rPr>
              <a:t>CSS GRID LAYOUT</a:t>
            </a:r>
          </a:p>
        </p:txBody>
      </p:sp>
    </p:spTree>
    <p:extLst>
      <p:ext uri="{BB962C8B-B14F-4D97-AF65-F5344CB8AC3E}">
        <p14:creationId xmlns:p14="http://schemas.microsoft.com/office/powerpoint/2010/main" val="168943263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4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FFBB342-36D2-4459-8A8E-AA00482E7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876300"/>
            <a:ext cx="38100" cy="510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A0A"/>
          </a:solidFill>
          <a:ln xmlns:a="http://schemas.openxmlformats.org/drawingml/2006/main" w="0">
            <a:solidFill>
              <a:srgbClr val="0A0A0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B4C114-E018-4854-8145-5458DFEE9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1409700"/>
            <a:ext cx="2667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A0A0A"/>
                </a:solidFill>
              </a:defRPr>
            </a:pPr>
            <a:r>
              <a:rPr sz="1125" b="1">
                <a:solidFill>
                  <a:srgbClr val="0A0A0A"/>
                </a:solidFill>
              </a:rPr>
              <a:t>W</a:t>
            </a:r>
          </a:p>
          <a:p xmlns:a="http://schemas.openxmlformats.org/drawingml/2006/main">
            <a:pPr>
              <a:defRPr sz="1125" b="1">
                <a:solidFill>
                  <a:srgbClr val="0A0A0A"/>
                </a:solidFill>
              </a:defRPr>
            </a:pPr>
            <a:r>
              <a:rPr sz="1125" b="1">
                <a:solidFill>
                  <a:srgbClr val="0A0A0A"/>
                </a:solidFill>
              </a:rPr>
              <a:t>E</a:t>
            </a:r>
          </a:p>
          <a:p xmlns:a="http://schemas.openxmlformats.org/drawingml/2006/main">
            <a:pPr>
              <a:defRPr sz="1125" b="1">
                <a:solidFill>
                  <a:srgbClr val="0A0A0A"/>
                </a:solidFill>
              </a:defRPr>
            </a:pPr>
            <a:r>
              <a:rPr sz="1125" b="1">
                <a:solidFill>
                  <a:srgbClr val="0A0A0A"/>
                </a:solidFill>
              </a:rPr>
              <a:t>B</a:t>
            </a:r>
          </a:p>
          <a:p xmlns:a="http://schemas.openxmlformats.org/drawingml/2006/main">
            <a:pPr>
              <a:defRPr sz="1125" b="1">
                <a:solidFill>
                  <a:srgbClr val="0A0A0A"/>
                </a:solidFill>
              </a:defRPr>
            </a:pPr>
            <a:r>
              <a:rPr sz="1125" b="1">
                <a:solidFill>
                  <a:srgbClr val="0A0A0A"/>
                </a:solidFill>
              </a:rPr>
              <a:t>S</a:t>
            </a:r>
          </a:p>
          <a:p xmlns:a="http://schemas.openxmlformats.org/drawingml/2006/main">
            <a:pPr>
              <a:defRPr sz="1125" b="1">
                <a:solidFill>
                  <a:srgbClr val="0A0A0A"/>
                </a:solidFill>
              </a:defRPr>
            </a:pPr>
            <a:r>
              <a:rPr sz="1125" b="1">
                <a:solidFill>
                  <a:srgbClr val="0A0A0A"/>
                </a:solidFill>
              </a:rPr>
              <a:t>I</a:t>
            </a:r>
          </a:p>
          <a:p xmlns:a="http://schemas.openxmlformats.org/drawingml/2006/main">
            <a:pPr>
              <a:defRPr sz="1125" b="1">
                <a:solidFill>
                  <a:srgbClr val="0A0A0A"/>
                </a:solidFill>
              </a:defRPr>
            </a:pPr>
            <a:r>
              <a:rPr sz="1125" b="1">
                <a:solidFill>
                  <a:srgbClr val="0A0A0A"/>
                </a:solidFill>
              </a:rPr>
              <a:t>T</a:t>
            </a:r>
          </a:p>
          <a:p xmlns:a="http://schemas.openxmlformats.org/drawingml/2006/main">
            <a:pPr>
              <a:defRPr sz="1125" b="1">
                <a:solidFill>
                  <a:srgbClr val="0A0A0A"/>
                </a:solidFill>
              </a:defRPr>
            </a:pPr>
            <a:r>
              <a:rPr sz="1125" b="1">
                <a:solidFill>
                  <a:srgbClr val="0A0A0A"/>
                </a:solidFill>
              </a:rPr>
              <a:t>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7C0C50-AC7E-4C81-A8C2-C6E50302F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43650"/>
            <a:ext cx="542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817B74"/>
                </a:solidFill>
              </a:defRPr>
            </a:pPr>
            <a:r>
              <a:rPr sz="900" b="1">
                <a:solidFill>
                  <a:srgbClr val="817B74"/>
                </a:solidFill>
              </a:rPr>
              <a:t>21909-1006  •  WEEK 10  •  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5A7352-3C30-40E5-8812-295194CDC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47700"/>
            <a:ext cx="9144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A0A0A"/>
                </a:solidFill>
              </a:defRPr>
            </a:pPr>
            <a:r>
              <a:rPr sz="2850" b="1">
                <a:solidFill>
                  <a:srgbClr val="0A0A0A"/>
                </a:solidFill>
              </a:rPr>
              <a:t>เมื่อจบบทเรียน นักเรียนสามารถ…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22609E-4B7D-4D86-A5B9-23F9E54AA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304925"/>
            <a:ext cx="876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817B74"/>
                </a:solidFill>
              </a:defRPr>
            </a:pPr>
            <a:r>
              <a:rPr sz="1350">
                <a:solidFill>
                  <a:srgbClr val="817B74"/>
                </a:solidFill>
              </a:rPr>
              <a:t>เปลี่ยนโครงร่างหน้าเว็บให้เป็นระบบและยืดหยุ่น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BE18A6-38BD-458B-BB60-F406CFBEF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907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A0A"/>
          </a:solidFill>
          <a:ln xmlns:a="http://schemas.openxmlformats.org/drawingml/2006/main" w="0">
            <a:solidFill>
              <a:srgbClr val="0A0A0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0DE0CF-3496-46FA-A5FE-69AFB3304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095500"/>
            <a:ext cx="81248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A0A0A"/>
                </a:solidFill>
              </a:defRPr>
            </a:pPr>
            <a:r>
              <a:rPr sz="1725" b="1">
                <a:solidFill>
                  <a:srgbClr val="0A0A0A"/>
                </a:solidFill>
              </a:rPr>
              <a:t>แยกความต่างระหว่าง Flexbox แบบ 1 มิติ และ Grid แบบ 2 มิติ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E31DC7-4E28-49A6-AA5A-D3BB9940A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718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A0A"/>
          </a:solidFill>
          <a:ln xmlns:a="http://schemas.openxmlformats.org/drawingml/2006/main" w="0">
            <a:solidFill>
              <a:srgbClr val="0A0A0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8A7083-9749-4E23-977C-84FAF1679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76550"/>
            <a:ext cx="81248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E2B28"/>
                </a:solidFill>
              </a:defRPr>
            </a:pPr>
            <a:r>
              <a:rPr sz="1725" b="0">
                <a:solidFill>
                  <a:srgbClr val="2E2B28"/>
                </a:solidFill>
              </a:rPr>
              <a:t>สร้างแถว คอลัมน์ และระยะห่างด้วยคำสั่ง CSS Grid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1651B5-C982-45B8-9A52-D6741188E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528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A0A"/>
          </a:solidFill>
          <a:ln xmlns:a="http://schemas.openxmlformats.org/drawingml/2006/main" w="0">
            <a:solidFill>
              <a:srgbClr val="0A0A0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A820D9-DBAE-4730-B510-FC699AE06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57600"/>
            <a:ext cx="81248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E2B28"/>
                </a:solidFill>
              </a:defRPr>
            </a:pPr>
            <a:r>
              <a:rPr sz="1725" b="0">
                <a:solidFill>
                  <a:srgbClr val="2E2B28"/>
                </a:solidFill>
              </a:rPr>
              <a:t>ควบคุมพื้นที่ของภาพหรือการ์ดด้วย grid-column, grid-row และ span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911995-909C-4ED9-A8D5-C67125970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5339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A0A"/>
          </a:solidFill>
          <a:ln xmlns:a="http://schemas.openxmlformats.org/drawingml/2006/main" w="0">
            <a:solidFill>
              <a:srgbClr val="0A0A0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86B87D-C9F5-4562-9D24-90CC21992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438650"/>
            <a:ext cx="81248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E2B28"/>
                </a:solidFill>
              </a:defRPr>
            </a:pPr>
            <a:r>
              <a:rPr sz="1725" b="0">
                <a:solidFill>
                  <a:srgbClr val="2E2B28"/>
                </a:solidFill>
              </a:rPr>
              <a:t>สร้าง Gallery Grid ที่ปรับจำนวนคอลัมน์ตามความกว้างหน้าจอ</a:t>
            </a:r>
          </a:p>
        </p:txBody>
      </p:sp>
    </p:spTree>
    <p:extLst>
      <p:ext uri="{BB962C8B-B14F-4D97-AF65-F5344CB8AC3E}">
        <p14:creationId xmlns:p14="http://schemas.microsoft.com/office/powerpoint/2010/main" val="15104993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4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12C1542-1476-4992-96E7-0BCCD705F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876300"/>
            <a:ext cx="38100" cy="510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A0A"/>
          </a:solidFill>
          <a:ln xmlns:a="http://schemas.openxmlformats.org/drawingml/2006/main" w="0">
            <a:solidFill>
              <a:srgbClr val="0A0A0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097E7F-E5DE-4B22-AFAA-1F9289DD3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1409700"/>
            <a:ext cx="2667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A0A0A"/>
                </a:solidFill>
              </a:defRPr>
            </a:pPr>
            <a:r>
              <a:rPr sz="1125" b="1">
                <a:solidFill>
                  <a:srgbClr val="0A0A0A"/>
                </a:solidFill>
              </a:rPr>
              <a:t>W</a:t>
            </a:r>
          </a:p>
          <a:p xmlns:a="http://schemas.openxmlformats.org/drawingml/2006/main">
            <a:pPr>
              <a:defRPr sz="1125" b="1">
                <a:solidFill>
                  <a:srgbClr val="0A0A0A"/>
                </a:solidFill>
              </a:defRPr>
            </a:pPr>
            <a:r>
              <a:rPr sz="1125" b="1">
                <a:solidFill>
                  <a:srgbClr val="0A0A0A"/>
                </a:solidFill>
              </a:rPr>
              <a:t>E</a:t>
            </a:r>
          </a:p>
          <a:p xmlns:a="http://schemas.openxmlformats.org/drawingml/2006/main">
            <a:pPr>
              <a:defRPr sz="1125" b="1">
                <a:solidFill>
                  <a:srgbClr val="0A0A0A"/>
                </a:solidFill>
              </a:defRPr>
            </a:pPr>
            <a:r>
              <a:rPr sz="1125" b="1">
                <a:solidFill>
                  <a:srgbClr val="0A0A0A"/>
                </a:solidFill>
              </a:rPr>
              <a:t>B</a:t>
            </a:r>
          </a:p>
          <a:p xmlns:a="http://schemas.openxmlformats.org/drawingml/2006/main">
            <a:pPr>
              <a:defRPr sz="1125" b="1">
                <a:solidFill>
                  <a:srgbClr val="0A0A0A"/>
                </a:solidFill>
              </a:defRPr>
            </a:pPr>
            <a:r>
              <a:rPr sz="1125" b="1">
                <a:solidFill>
                  <a:srgbClr val="0A0A0A"/>
                </a:solidFill>
              </a:rPr>
              <a:t>S</a:t>
            </a:r>
          </a:p>
          <a:p xmlns:a="http://schemas.openxmlformats.org/drawingml/2006/main">
            <a:pPr>
              <a:defRPr sz="1125" b="1">
                <a:solidFill>
                  <a:srgbClr val="0A0A0A"/>
                </a:solidFill>
              </a:defRPr>
            </a:pPr>
            <a:r>
              <a:rPr sz="1125" b="1">
                <a:solidFill>
                  <a:srgbClr val="0A0A0A"/>
                </a:solidFill>
              </a:rPr>
              <a:t>I</a:t>
            </a:r>
          </a:p>
          <a:p xmlns:a="http://schemas.openxmlformats.org/drawingml/2006/main">
            <a:pPr>
              <a:defRPr sz="1125" b="1">
                <a:solidFill>
                  <a:srgbClr val="0A0A0A"/>
                </a:solidFill>
              </a:defRPr>
            </a:pPr>
            <a:r>
              <a:rPr sz="1125" b="1">
                <a:solidFill>
                  <a:srgbClr val="0A0A0A"/>
                </a:solidFill>
              </a:rPr>
              <a:t>T</a:t>
            </a:r>
          </a:p>
          <a:p xmlns:a="http://schemas.openxmlformats.org/drawingml/2006/main">
            <a:pPr>
              <a:defRPr sz="1125" b="1">
                <a:solidFill>
                  <a:srgbClr val="0A0A0A"/>
                </a:solidFill>
              </a:defRPr>
            </a:pPr>
            <a:r>
              <a:rPr sz="1125" b="1">
                <a:solidFill>
                  <a:srgbClr val="0A0A0A"/>
                </a:solidFill>
              </a:rPr>
              <a:t>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56B63C-9CB0-41DD-889D-E740D3450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43650"/>
            <a:ext cx="542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817B74"/>
                </a:solidFill>
              </a:defRPr>
            </a:pPr>
            <a:r>
              <a:rPr sz="900" b="1">
                <a:solidFill>
                  <a:srgbClr val="817B74"/>
                </a:solidFill>
              </a:rPr>
              <a:t>21909-1006  •  WEEK 10  •  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AB2C62-1325-4414-BDEA-EA8025A8E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47700"/>
            <a:ext cx="9144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A0A0A"/>
                </a:solidFill>
              </a:defRPr>
            </a:pPr>
            <a:r>
              <a:rPr sz="2850" b="1">
                <a:solidFill>
                  <a:srgbClr val="0A0A0A"/>
                </a:solidFill>
              </a:rPr>
              <a:t>Grid เหมาะเมื่อเราต้องควบคุมทั้งแถวและคอลัมน์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7969A9-4C28-4526-A294-ADC35074E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304925"/>
            <a:ext cx="876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817B74"/>
                </a:solidFill>
              </a:defRPr>
            </a:pPr>
            <a:r>
              <a:rPr sz="1350">
                <a:solidFill>
                  <a:srgbClr val="817B74"/>
                </a:solidFill>
              </a:rPr>
              <a:t>Flexbox จัดแนวเดียวได้ดี ส่วน Grid ออกแบบโครงร่างทั้งหน้าได้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E8E81E-41EF-457F-B1BE-0A5D8DE2B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01930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817B74"/>
                </a:solidFill>
              </a:defRPr>
            </a:pPr>
            <a:r>
              <a:rPr sz="1500" b="1">
                <a:solidFill>
                  <a:srgbClr val="817B74"/>
                </a:solidFill>
              </a:rPr>
              <a:t>FLEXBOX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2D4F84-7D49-494F-A626-8807ECECC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628900"/>
            <a:ext cx="8763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D4D1CC"/>
          </a:solidFill>
          <a:ln xmlns:a="http://schemas.openxmlformats.org/drawingml/2006/main" w="0">
            <a:solidFill>
              <a:srgbClr val="D4D1C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2A6D05-C5E8-4D2E-B424-D53956A83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33700"/>
            <a:ext cx="68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A0A0A"/>
                </a:solidFill>
              </a:defRPr>
            </a:pPr>
            <a:r>
              <a:rPr sz="1275" b="1">
                <a:solidFill>
                  <a:srgbClr val="0A0A0A"/>
                </a:solidFill>
              </a:rPr>
              <a:t>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83FFE6-4660-4B3E-8C56-75B8F73A3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2628900"/>
            <a:ext cx="8763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AAA59E"/>
          </a:solidFill>
          <a:ln xmlns:a="http://schemas.openxmlformats.org/drawingml/2006/main" w="0">
            <a:solidFill>
              <a:srgbClr val="AAA59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1F76FD-9AA7-4C0A-A293-43DB8420C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2933700"/>
            <a:ext cx="68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A0A0A"/>
                </a:solidFill>
              </a:defRPr>
            </a:pPr>
            <a:r>
              <a:rPr sz="1275" b="1">
                <a:solidFill>
                  <a:srgbClr val="0A0A0A"/>
                </a:solidFill>
              </a:rPr>
              <a:t>B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1F6685-52AB-432F-9FF3-A5207A2D9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628900"/>
            <a:ext cx="8763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807A72"/>
          </a:solidFill>
          <a:ln xmlns:a="http://schemas.openxmlformats.org/drawingml/2006/main" w="0">
            <a:solidFill>
              <a:srgbClr val="807A7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5E0A02-4B03-4500-BEC8-9702847C9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933700"/>
            <a:ext cx="68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4F4F2"/>
                </a:solidFill>
              </a:defRPr>
            </a:pPr>
            <a:r>
              <a:rPr sz="1275" b="1">
                <a:solidFill>
                  <a:srgbClr val="F4F4F2"/>
                </a:solidFill>
              </a:rPr>
              <a:t>C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D64801-EDD4-48B7-B869-C7733D1B9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867150"/>
            <a:ext cx="3905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2E2B28"/>
                </a:solidFill>
              </a:defRPr>
            </a:pPr>
            <a:r>
              <a:rPr sz="1650">
                <a:solidFill>
                  <a:srgbClr val="2E2B28"/>
                </a:solidFill>
              </a:rPr>
              <a:t>จัดองค์ประกอบตามแนวเดียว</a:t>
            </a:r>
          </a:p>
          <a:p xmlns:a="http://schemas.openxmlformats.org/drawingml/2006/main">
            <a:pPr>
              <a:defRPr sz="1650">
                <a:solidFill>
                  <a:srgbClr val="2E2B28"/>
                </a:solidFill>
              </a:defRPr>
            </a:pPr>
            <a:r>
              <a:rPr sz="1650">
                <a:solidFill>
                  <a:srgbClr val="2E2B28"/>
                </a:solidFill>
              </a:rPr>
              <a:t>เช่น เมนูนำทาง หรือแถวปุ่ม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82449FC-B9BA-482A-AAD4-F70090967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1943100"/>
            <a:ext cx="95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2AA"/>
          </a:solidFill>
          <a:ln xmlns:a="http://schemas.openxmlformats.org/drawingml/2006/main" w="0">
            <a:solidFill>
              <a:srgbClr val="B7B2A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706A9D-FE63-4E80-AF84-904BCD7EE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1930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817B74"/>
                </a:solidFill>
              </a:defRPr>
            </a:pPr>
            <a:r>
              <a:rPr sz="1500" b="1">
                <a:solidFill>
                  <a:srgbClr val="817B74"/>
                </a:solidFill>
              </a:rPr>
              <a:t>CSS GRID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BF618A5-EBE1-4719-B3C7-1E3228985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628900"/>
            <a:ext cx="85725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D4D1CC"/>
          </a:solidFill>
          <a:ln xmlns:a="http://schemas.openxmlformats.org/drawingml/2006/main" w="0">
            <a:solidFill>
              <a:srgbClr val="D4D1C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EBFB69-51ED-4DEA-9522-E6987BAED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924175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A0A0A"/>
                </a:solidFill>
              </a:defRPr>
            </a:pPr>
            <a:r>
              <a:rPr sz="1275" b="1">
                <a:solidFill>
                  <a:srgbClr val="0A0A0A"/>
                </a:solidFill>
              </a:rPr>
              <a:t>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81863AE-ABBA-4158-8F90-E8B1856C6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628900"/>
            <a:ext cx="85725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AAA59E"/>
          </a:solidFill>
          <a:ln xmlns:a="http://schemas.openxmlformats.org/drawingml/2006/main" w="0">
            <a:solidFill>
              <a:srgbClr val="AAA59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FDF6AA-FCC2-419B-973B-09DEEF5C1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924175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A0A0A"/>
                </a:solidFill>
              </a:defRPr>
            </a:pPr>
            <a:r>
              <a:rPr sz="1275" b="1">
                <a:solidFill>
                  <a:srgbClr val="0A0A0A"/>
                </a:solidFill>
              </a:rPr>
              <a:t>B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13636E0-34A2-48BD-BDED-EAED7373F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628900"/>
            <a:ext cx="85725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807A72"/>
          </a:solidFill>
          <a:ln xmlns:a="http://schemas.openxmlformats.org/drawingml/2006/main" w="0">
            <a:solidFill>
              <a:srgbClr val="807A7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7CE6F4-710E-49D4-A083-6291E1A5B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924175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4F4F2"/>
                </a:solidFill>
              </a:defRPr>
            </a:pPr>
            <a:r>
              <a:rPr sz="1275" b="1">
                <a:solidFill>
                  <a:srgbClr val="F4F4F2"/>
                </a:solidFill>
              </a:rPr>
              <a:t>C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34026E3-B007-43B3-ADB2-5CC3E263C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00450"/>
            <a:ext cx="85725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AAA59E"/>
          </a:solidFill>
          <a:ln xmlns:a="http://schemas.openxmlformats.org/drawingml/2006/main" w="0">
            <a:solidFill>
              <a:srgbClr val="AAA59E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9A70836-EDD1-4FFF-BC34-F421EC837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895725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A0A0A"/>
                </a:solidFill>
              </a:defRPr>
            </a:pPr>
            <a:r>
              <a:rPr sz="1275" b="1">
                <a:solidFill>
                  <a:srgbClr val="0A0A0A"/>
                </a:solidFill>
              </a:rPr>
              <a:t>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A635111-3D44-46F3-B11E-50F655A13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600450"/>
            <a:ext cx="85725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807A72"/>
          </a:solidFill>
          <a:ln xmlns:a="http://schemas.openxmlformats.org/drawingml/2006/main" w="0">
            <a:solidFill>
              <a:srgbClr val="807A7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917B50F-DD46-4F64-878F-AD83F99AB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895725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4F4F2"/>
                </a:solidFill>
              </a:defRPr>
            </a:pPr>
            <a:r>
              <a:rPr sz="1275" b="1">
                <a:solidFill>
                  <a:srgbClr val="F4F4F2"/>
                </a:solidFill>
              </a:rPr>
              <a:t>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83FFF74-2AE6-4C92-AF18-36AB6953C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600450"/>
            <a:ext cx="85725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D4D1CC"/>
          </a:solidFill>
          <a:ln xmlns:a="http://schemas.openxmlformats.org/drawingml/2006/main" w="0">
            <a:solidFill>
              <a:srgbClr val="D4D1CC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7603AC3-49C9-4124-8EE4-6A939415A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895725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A0A0A"/>
                </a:solidFill>
              </a:defRPr>
            </a:pPr>
            <a:r>
              <a:rPr sz="1275" b="1">
                <a:solidFill>
                  <a:srgbClr val="0A0A0A"/>
                </a:solidFill>
              </a:rPr>
              <a:t>F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90F77DF-7E15-4A19-A305-0910454BE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629150"/>
            <a:ext cx="400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2E2B28"/>
                </a:solidFill>
              </a:defRPr>
            </a:pPr>
            <a:r>
              <a:rPr sz="1650">
                <a:solidFill>
                  <a:srgbClr val="2E2B28"/>
                </a:solidFill>
              </a:rPr>
              <a:t>กำหนดตำแหน่งได้ทั้งแนวแถวและคอลัมน์</a:t>
            </a:r>
          </a:p>
          <a:p xmlns:a="http://schemas.openxmlformats.org/drawingml/2006/main">
            <a:pPr>
              <a:defRPr sz="1650">
                <a:solidFill>
                  <a:srgbClr val="2E2B28"/>
                </a:solidFill>
              </a:defRPr>
            </a:pPr>
            <a:r>
              <a:rPr sz="1650">
                <a:solidFill>
                  <a:srgbClr val="2E2B28"/>
                </a:solidFill>
              </a:rPr>
              <a:t>เช่น แกลเลอรี แดชบอร์ด และหน้าเว็บหลัก</a:t>
            </a:r>
          </a:p>
        </p:txBody>
      </p:sp>
    </p:spTree>
    <p:extLst>
      <p:ext uri="{BB962C8B-B14F-4D97-AF65-F5344CB8AC3E}">
        <p14:creationId xmlns:p14="http://schemas.microsoft.com/office/powerpoint/2010/main" val="167206914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4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8CB0CEF-6323-43BB-802A-4971916FA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876300"/>
            <a:ext cx="38100" cy="510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A0A"/>
          </a:solidFill>
          <a:ln xmlns:a="http://schemas.openxmlformats.org/drawingml/2006/main" w="0">
            <a:solidFill>
              <a:srgbClr val="0A0A0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44D817-644F-4439-98FD-AF5714F31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1409700"/>
            <a:ext cx="2667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A0A0A"/>
                </a:solidFill>
              </a:defRPr>
            </a:pPr>
            <a:r>
              <a:rPr sz="1125" b="1">
                <a:solidFill>
                  <a:srgbClr val="0A0A0A"/>
                </a:solidFill>
              </a:rPr>
              <a:t>W</a:t>
            </a:r>
          </a:p>
          <a:p xmlns:a="http://schemas.openxmlformats.org/drawingml/2006/main">
            <a:pPr>
              <a:defRPr sz="1125" b="1">
                <a:solidFill>
                  <a:srgbClr val="0A0A0A"/>
                </a:solidFill>
              </a:defRPr>
            </a:pPr>
            <a:r>
              <a:rPr sz="1125" b="1">
                <a:solidFill>
                  <a:srgbClr val="0A0A0A"/>
                </a:solidFill>
              </a:rPr>
              <a:t>E</a:t>
            </a:r>
          </a:p>
          <a:p xmlns:a="http://schemas.openxmlformats.org/drawingml/2006/main">
            <a:pPr>
              <a:defRPr sz="1125" b="1">
                <a:solidFill>
                  <a:srgbClr val="0A0A0A"/>
                </a:solidFill>
              </a:defRPr>
            </a:pPr>
            <a:r>
              <a:rPr sz="1125" b="1">
                <a:solidFill>
                  <a:srgbClr val="0A0A0A"/>
                </a:solidFill>
              </a:rPr>
              <a:t>B</a:t>
            </a:r>
          </a:p>
          <a:p xmlns:a="http://schemas.openxmlformats.org/drawingml/2006/main">
            <a:pPr>
              <a:defRPr sz="1125" b="1">
                <a:solidFill>
                  <a:srgbClr val="0A0A0A"/>
                </a:solidFill>
              </a:defRPr>
            </a:pPr>
            <a:r>
              <a:rPr sz="1125" b="1">
                <a:solidFill>
                  <a:srgbClr val="0A0A0A"/>
                </a:solidFill>
              </a:rPr>
              <a:t>S</a:t>
            </a:r>
          </a:p>
          <a:p xmlns:a="http://schemas.openxmlformats.org/drawingml/2006/main">
            <a:pPr>
              <a:defRPr sz="1125" b="1">
                <a:solidFill>
                  <a:srgbClr val="0A0A0A"/>
                </a:solidFill>
              </a:defRPr>
            </a:pPr>
            <a:r>
              <a:rPr sz="1125" b="1">
                <a:solidFill>
                  <a:srgbClr val="0A0A0A"/>
                </a:solidFill>
              </a:rPr>
              <a:t>I</a:t>
            </a:r>
          </a:p>
          <a:p xmlns:a="http://schemas.openxmlformats.org/drawingml/2006/main">
            <a:pPr>
              <a:defRPr sz="1125" b="1">
                <a:solidFill>
                  <a:srgbClr val="0A0A0A"/>
                </a:solidFill>
              </a:defRPr>
            </a:pPr>
            <a:r>
              <a:rPr sz="1125" b="1">
                <a:solidFill>
                  <a:srgbClr val="0A0A0A"/>
                </a:solidFill>
              </a:rPr>
              <a:t>T</a:t>
            </a:r>
          </a:p>
          <a:p xmlns:a="http://schemas.openxmlformats.org/drawingml/2006/main">
            <a:pPr>
              <a:defRPr sz="1125" b="1">
                <a:solidFill>
                  <a:srgbClr val="0A0A0A"/>
                </a:solidFill>
              </a:defRPr>
            </a:pPr>
            <a:r>
              <a:rPr sz="1125" b="1">
                <a:solidFill>
                  <a:srgbClr val="0A0A0A"/>
                </a:solidFill>
              </a:rPr>
              <a:t>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0C4524-4593-42EC-9540-805ECF71F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43650"/>
            <a:ext cx="542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817B74"/>
                </a:solidFill>
              </a:defRPr>
            </a:pPr>
            <a:r>
              <a:rPr sz="900" b="1">
                <a:solidFill>
                  <a:srgbClr val="817B74"/>
                </a:solidFill>
              </a:rPr>
              <a:t>21909-1006  •  WEEK 10  •  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A06FCA-BC15-4708-87A3-31B860ECC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47700"/>
            <a:ext cx="9144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A0A0A"/>
                </a:solidFill>
              </a:defRPr>
            </a:pPr>
            <a:r>
              <a:rPr sz="2850" b="1">
                <a:solidFill>
                  <a:srgbClr val="0A0A0A"/>
                </a:solidFill>
              </a:rPr>
              <a:t>เริ่มจากกล่องแม่ แล้ว Grid จะจัดกล่องลูกให้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A47B9F-D4C1-49CE-9071-10A2B2F93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304925"/>
            <a:ext cx="876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817B74"/>
                </a:solidFill>
              </a:defRPr>
            </a:pPr>
            <a:r>
              <a:rPr sz="1350">
                <a:solidFill>
                  <a:srgbClr val="817B74"/>
                </a:solidFill>
              </a:rPr>
              <a:t>Grid Container สร้างตาราง ส่วน Grid Items เป็นสมาชิกในตาราง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6857A2-AF6E-4BE0-8B20-1F41D8592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981200"/>
            <a:ext cx="3381375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1D1D1B"/>
          </a:solidFill>
          <a:ln xmlns:a="http://schemas.openxmlformats.org/drawingml/2006/main" w="0">
            <a:solidFill>
              <a:srgbClr val="1D1D1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8D1A19-721F-4A51-AEE3-69BF2D465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52650"/>
            <a:ext cx="2962275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F4F4F2"/>
                </a:solidFill>
              </a:defRPr>
            </a:pPr>
            <a:r>
              <a:rPr sz="1500">
                <a:solidFill>
                  <a:srgbClr val="F4F4F2"/>
                </a:solidFill>
              </a:rPr>
              <a:t>.gallery {</a:t>
            </a:r>
          </a:p>
          <a:p xmlns:a="http://schemas.openxmlformats.org/drawingml/2006/main">
            <a:pPr>
              <a:defRPr sz="1500">
                <a:solidFill>
                  <a:srgbClr val="F4F4F2"/>
                </a:solidFill>
              </a:defRPr>
            </a:pPr>
            <a:r>
              <a:rPr sz="1500">
                <a:solidFill>
                  <a:srgbClr val="F4F4F2"/>
                </a:solidFill>
              </a:rPr>
              <a:t>  display: grid;</a:t>
            </a:r>
          </a:p>
          <a:p xmlns:a="http://schemas.openxmlformats.org/drawingml/2006/main">
            <a:pPr>
              <a:defRPr sz="1500">
                <a:solidFill>
                  <a:srgbClr val="F4F4F2"/>
                </a:solidFill>
              </a:defRPr>
            </a:pPr>
            <a:r>
              <a:rPr sz="1500">
                <a:solidFill>
                  <a:srgbClr val="F4F4F2"/>
                </a:solidFill>
              </a:rPr>
              <a:t>}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A31919-B382-45B6-8690-BDA2E4114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24250"/>
            <a:ext cx="3381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17B74"/>
                </a:solidFill>
              </a:defRPr>
            </a:pPr>
            <a:r>
              <a:rPr sz="1350" b="1">
                <a:solidFill>
                  <a:srgbClr val="817B74"/>
                </a:solidFill>
              </a:rPr>
              <a:t>Grid Container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4CD2AB-C7E5-4B21-BE79-F6EADE9AB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67150"/>
            <a:ext cx="323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A0A0A"/>
                </a:solidFill>
              </a:defRPr>
            </a:pPr>
            <a:r>
              <a:rPr sz="1800" b="1">
                <a:solidFill>
                  <a:srgbClr val="0A0A0A"/>
                </a:solidFill>
              </a:rPr>
              <a:t>เปิดระบบด้วย</a:t>
            </a:r>
          </a:p>
          <a:p xmlns:a="http://schemas.openxmlformats.org/drawingml/2006/main">
            <a:pPr>
              <a:defRPr sz="1800" b="1">
                <a:solidFill>
                  <a:srgbClr val="0A0A0A"/>
                </a:solidFill>
              </a:defRPr>
            </a:pPr>
            <a:r>
              <a:rPr sz="1800" b="1">
                <a:solidFill>
                  <a:srgbClr val="0A0A0A"/>
                </a:solidFill>
              </a:rPr>
              <a:t> display: grid;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BD1B80-1B3A-46C2-A4EB-CD75BDCF2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866900"/>
            <a:ext cx="4667250" cy="3028950"/>
          </a:xfrm>
          <a:prstGeom xmlns:a="http://schemas.openxmlformats.org/drawingml/2006/main" prst="roundRect">
            <a:avLst>
              <a:gd name="adj" fmla="val 3774"/>
            </a:avLst>
          </a:prstGeom>
          <a:solidFill xmlns:a="http://schemas.openxmlformats.org/drawingml/2006/main">
            <a:srgbClr val="E9E8E5"/>
          </a:solidFill>
          <a:ln xmlns:a="http://schemas.openxmlformats.org/drawingml/2006/main" w="0">
            <a:solidFill>
              <a:srgbClr val="E9E8E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FF2903-6BD3-4073-AD1A-C9DF0F239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09550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817B74"/>
                </a:solidFill>
              </a:defRPr>
            </a:pPr>
            <a:r>
              <a:rPr sz="1050" b="1">
                <a:solidFill>
                  <a:srgbClr val="817B74"/>
                </a:solidFill>
              </a:rPr>
              <a:t>GRID CONTAINER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BC074A-B4E8-447F-9CB5-334902BCC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533650"/>
            <a:ext cx="12573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D6D3CE"/>
          </a:solidFill>
          <a:ln xmlns:a="http://schemas.openxmlformats.org/drawingml/2006/main" w="0">
            <a:solidFill>
              <a:srgbClr val="D6D3C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2D36D7-1385-4B38-BE2B-721975577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838450"/>
            <a:ext cx="1066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A0A0A"/>
                </a:solidFill>
              </a:defRPr>
            </a:pPr>
            <a:r>
              <a:rPr sz="1125" b="1">
                <a:solidFill>
                  <a:srgbClr val="0A0A0A"/>
                </a:solidFill>
              </a:rPr>
              <a:t>Item 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8317A06-C1AD-4CCA-84F1-9EBE05F77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533650"/>
            <a:ext cx="12573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AAA59E"/>
          </a:solidFill>
          <a:ln xmlns:a="http://schemas.openxmlformats.org/drawingml/2006/main" w="0">
            <a:solidFill>
              <a:srgbClr val="AAA59E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A020F0-44D7-4A94-B822-477B0440C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838450"/>
            <a:ext cx="1066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A0A0A"/>
                </a:solidFill>
              </a:defRPr>
            </a:pPr>
            <a:r>
              <a:rPr sz="1125" b="1">
                <a:solidFill>
                  <a:srgbClr val="0A0A0A"/>
                </a:solidFill>
              </a:rPr>
              <a:t>Item 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551305B-331B-485B-84E2-277E7F313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533650"/>
            <a:ext cx="12573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807A72"/>
          </a:solidFill>
          <a:ln xmlns:a="http://schemas.openxmlformats.org/drawingml/2006/main" w="0">
            <a:solidFill>
              <a:srgbClr val="807A7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FF6676C-E47F-40EE-B61D-B399CA314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838450"/>
            <a:ext cx="1066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4F4F2"/>
                </a:solidFill>
              </a:defRPr>
            </a:pPr>
            <a:r>
              <a:rPr sz="1125" b="1">
                <a:solidFill>
                  <a:srgbClr val="F4F4F2"/>
                </a:solidFill>
              </a:rPr>
              <a:t>Item 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1A89FB-1945-4815-81FB-097159790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562350"/>
            <a:ext cx="12573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AAA59E"/>
          </a:solidFill>
          <a:ln xmlns:a="http://schemas.openxmlformats.org/drawingml/2006/main" w="0">
            <a:solidFill>
              <a:srgbClr val="AAA59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CFD4DBA-2E58-4901-8333-640F9313B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867150"/>
            <a:ext cx="1066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A0A0A"/>
                </a:solidFill>
              </a:defRPr>
            </a:pPr>
            <a:r>
              <a:rPr sz="1125" b="1">
                <a:solidFill>
                  <a:srgbClr val="0A0A0A"/>
                </a:solidFill>
              </a:rPr>
              <a:t>Item 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E4FA6A1-48D2-41EF-A9D4-FFF72D292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562350"/>
            <a:ext cx="12573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807A72"/>
          </a:solidFill>
          <a:ln xmlns:a="http://schemas.openxmlformats.org/drawingml/2006/main" w="0">
            <a:solidFill>
              <a:srgbClr val="807A7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671E5F6-2AC3-43C9-AC4B-97B28DBE0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867150"/>
            <a:ext cx="1066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4F4F2"/>
                </a:solidFill>
              </a:defRPr>
            </a:pPr>
            <a:r>
              <a:rPr sz="1125" b="1">
                <a:solidFill>
                  <a:srgbClr val="F4F4F2"/>
                </a:solidFill>
              </a:rPr>
              <a:t>Item 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288CAFA-72BC-42D1-AC81-5099B1895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562350"/>
            <a:ext cx="12573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D6D3CE"/>
          </a:solidFill>
          <a:ln xmlns:a="http://schemas.openxmlformats.org/drawingml/2006/main" w="0">
            <a:solidFill>
              <a:srgbClr val="D6D3CE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A69E62B-3273-495A-9B1E-141CD6382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867150"/>
            <a:ext cx="1066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A0A0A"/>
                </a:solidFill>
              </a:defRPr>
            </a:pPr>
            <a:r>
              <a:rPr sz="1125" b="1">
                <a:solidFill>
                  <a:srgbClr val="0A0A0A"/>
                </a:solidFill>
              </a:rPr>
              <a:t>Item 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FA72E1A-3FDE-44DD-95C0-BD972FB28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219700"/>
            <a:ext cx="4667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A0A0A"/>
                </a:solidFill>
              </a:defRPr>
            </a:pPr>
            <a:r>
              <a:rPr sz="1725" b="1">
                <a:solidFill>
                  <a:srgbClr val="0A0A0A"/>
                </a:solidFill>
              </a:rPr>
              <a:t>Grid Item = ลูกโดยตรงของ Grid Container</a:t>
            </a:r>
          </a:p>
        </p:txBody>
      </p:sp>
    </p:spTree>
    <p:extLst>
      <p:ext uri="{BB962C8B-B14F-4D97-AF65-F5344CB8AC3E}">
        <p14:creationId xmlns:p14="http://schemas.microsoft.com/office/powerpoint/2010/main" val="133082989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4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E137F7-6EAB-412A-A711-94B14A383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876300"/>
            <a:ext cx="38100" cy="510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A0A"/>
          </a:solidFill>
          <a:ln xmlns:a="http://schemas.openxmlformats.org/drawingml/2006/main" w="0">
            <a:solidFill>
              <a:srgbClr val="0A0A0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36733B-5B6B-4615-978D-783F2043E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1409700"/>
            <a:ext cx="2667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A0A0A"/>
                </a:solidFill>
              </a:defRPr>
            </a:pPr>
            <a:r>
              <a:rPr sz="1125" b="1">
                <a:solidFill>
                  <a:srgbClr val="0A0A0A"/>
                </a:solidFill>
              </a:rPr>
              <a:t>W</a:t>
            </a:r>
          </a:p>
          <a:p xmlns:a="http://schemas.openxmlformats.org/drawingml/2006/main">
            <a:pPr>
              <a:defRPr sz="1125" b="1">
                <a:solidFill>
                  <a:srgbClr val="0A0A0A"/>
                </a:solidFill>
              </a:defRPr>
            </a:pPr>
            <a:r>
              <a:rPr sz="1125" b="1">
                <a:solidFill>
                  <a:srgbClr val="0A0A0A"/>
                </a:solidFill>
              </a:rPr>
              <a:t>E</a:t>
            </a:r>
          </a:p>
          <a:p xmlns:a="http://schemas.openxmlformats.org/drawingml/2006/main">
            <a:pPr>
              <a:defRPr sz="1125" b="1">
                <a:solidFill>
                  <a:srgbClr val="0A0A0A"/>
                </a:solidFill>
              </a:defRPr>
            </a:pPr>
            <a:r>
              <a:rPr sz="1125" b="1">
                <a:solidFill>
                  <a:srgbClr val="0A0A0A"/>
                </a:solidFill>
              </a:rPr>
              <a:t>B</a:t>
            </a:r>
          </a:p>
          <a:p xmlns:a="http://schemas.openxmlformats.org/drawingml/2006/main">
            <a:pPr>
              <a:defRPr sz="1125" b="1">
                <a:solidFill>
                  <a:srgbClr val="0A0A0A"/>
                </a:solidFill>
              </a:defRPr>
            </a:pPr>
            <a:r>
              <a:rPr sz="1125" b="1">
                <a:solidFill>
                  <a:srgbClr val="0A0A0A"/>
                </a:solidFill>
              </a:rPr>
              <a:t>S</a:t>
            </a:r>
          </a:p>
          <a:p xmlns:a="http://schemas.openxmlformats.org/drawingml/2006/main">
            <a:pPr>
              <a:defRPr sz="1125" b="1">
                <a:solidFill>
                  <a:srgbClr val="0A0A0A"/>
                </a:solidFill>
              </a:defRPr>
            </a:pPr>
            <a:r>
              <a:rPr sz="1125" b="1">
                <a:solidFill>
                  <a:srgbClr val="0A0A0A"/>
                </a:solidFill>
              </a:rPr>
              <a:t>I</a:t>
            </a:r>
          </a:p>
          <a:p xmlns:a="http://schemas.openxmlformats.org/drawingml/2006/main">
            <a:pPr>
              <a:defRPr sz="1125" b="1">
                <a:solidFill>
                  <a:srgbClr val="0A0A0A"/>
                </a:solidFill>
              </a:defRPr>
            </a:pPr>
            <a:r>
              <a:rPr sz="1125" b="1">
                <a:solidFill>
                  <a:srgbClr val="0A0A0A"/>
                </a:solidFill>
              </a:rPr>
              <a:t>T</a:t>
            </a:r>
          </a:p>
          <a:p xmlns:a="http://schemas.openxmlformats.org/drawingml/2006/main">
            <a:pPr>
              <a:defRPr sz="1125" b="1">
                <a:solidFill>
                  <a:srgbClr val="0A0A0A"/>
                </a:solidFill>
              </a:defRPr>
            </a:pPr>
            <a:r>
              <a:rPr sz="1125" b="1">
                <a:solidFill>
                  <a:srgbClr val="0A0A0A"/>
                </a:solidFill>
              </a:rPr>
              <a:t>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056BDE-4C99-49FB-84A4-7F0AC21FA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43650"/>
            <a:ext cx="542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817B74"/>
                </a:solidFill>
              </a:defRPr>
            </a:pPr>
            <a:r>
              <a:rPr sz="900" b="1">
                <a:solidFill>
                  <a:srgbClr val="817B74"/>
                </a:solidFill>
              </a:rPr>
              <a:t>21909-1006  •  WEEK 10  •  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E682B7-4C3D-42AF-8E77-F6DC61323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47700"/>
            <a:ext cx="9144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A0A0A"/>
                </a:solidFill>
              </a:defRPr>
            </a:pPr>
            <a:r>
              <a:rPr sz="2850" b="1">
                <a:solidFill>
                  <a:srgbClr val="0A0A0A"/>
                </a:solidFill>
              </a:rPr>
              <a:t>หน่วย fr ช่วยแบ่งพื้นที่ที่เหลืออย่างมีสัดส่วน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21D1C9-A040-495E-BC69-8054A9925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304925"/>
            <a:ext cx="876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817B74"/>
                </a:solidFill>
              </a:defRPr>
            </a:pPr>
            <a:r>
              <a:rPr sz="1350">
                <a:solidFill>
                  <a:srgbClr val="817B74"/>
                </a:solidFill>
              </a:rPr>
              <a:t>ใช้ grid-template-columns และ repeat() เพื่อออกแบบคอลัมน์ได้กระชับ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0F941E-EECB-4486-8362-78443191C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52625"/>
            <a:ext cx="4762500" cy="1962150"/>
          </a:xfrm>
          <a:prstGeom xmlns:a="http://schemas.openxmlformats.org/drawingml/2006/main" prst="roundRect">
            <a:avLst>
              <a:gd name="adj" fmla="val 5825"/>
            </a:avLst>
          </a:prstGeom>
          <a:solidFill xmlns:a="http://schemas.openxmlformats.org/drawingml/2006/main">
            <a:srgbClr val="1D1D1B"/>
          </a:solidFill>
          <a:ln xmlns:a="http://schemas.openxmlformats.org/drawingml/2006/main" w="0">
            <a:solidFill>
              <a:srgbClr val="1D1D1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826916-7797-4A7B-ADE5-3BA463FD1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124075"/>
            <a:ext cx="43434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F4F4F2"/>
                </a:solidFill>
              </a:defRPr>
            </a:pPr>
            <a:r>
              <a:rPr sz="1350">
                <a:solidFill>
                  <a:srgbClr val="F4F4F2"/>
                </a:solidFill>
              </a:rPr>
              <a:t>.product-grid {</a:t>
            </a:r>
          </a:p>
          <a:p xmlns:a="http://schemas.openxmlformats.org/drawingml/2006/main">
            <a:pPr>
              <a:defRPr sz="1350">
                <a:solidFill>
                  <a:srgbClr val="F4F4F2"/>
                </a:solidFill>
              </a:defRPr>
            </a:pPr>
            <a:r>
              <a:rPr sz="1350">
                <a:solidFill>
                  <a:srgbClr val="F4F4F2"/>
                </a:solidFill>
              </a:rPr>
              <a:t>  display: grid;</a:t>
            </a:r>
          </a:p>
          <a:p xmlns:a="http://schemas.openxmlformats.org/drawingml/2006/main">
            <a:pPr>
              <a:defRPr sz="1350">
                <a:solidFill>
                  <a:srgbClr val="F4F4F2"/>
                </a:solidFill>
              </a:defRPr>
            </a:pPr>
            <a:r>
              <a:rPr sz="1350">
                <a:solidFill>
                  <a:srgbClr val="F4F4F2"/>
                </a:solidFill>
              </a:rPr>
              <a:t>  grid-template-columns: repeat(3, 1fr);</a:t>
            </a:r>
          </a:p>
          <a:p xmlns:a="http://schemas.openxmlformats.org/drawingml/2006/main">
            <a:pPr>
              <a:defRPr sz="1350">
                <a:solidFill>
                  <a:srgbClr val="F4F4F2"/>
                </a:solidFill>
              </a:defRPr>
            </a:pPr>
            <a:r>
              <a:rPr sz="1350">
                <a:solidFill>
                  <a:srgbClr val="F4F4F2"/>
                </a:solidFill>
              </a:rPr>
              <a:t>  gap: 20px;</a:t>
            </a:r>
          </a:p>
          <a:p xmlns:a="http://schemas.openxmlformats.org/drawingml/2006/main">
            <a:pPr>
              <a:defRPr sz="1350">
                <a:solidFill>
                  <a:srgbClr val="F4F4F2"/>
                </a:solidFill>
              </a:defRPr>
            </a:pPr>
            <a:r>
              <a:rPr sz="1350">
                <a:solidFill>
                  <a:srgbClr val="F4F4F2"/>
                </a:solidFill>
              </a:rPr>
              <a:t>}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88C652-EFCF-41C9-B35E-1C37309C4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67200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A0A0A"/>
                </a:solidFill>
              </a:defRPr>
            </a:pPr>
            <a:r>
              <a:rPr sz="1725" b="1">
                <a:solidFill>
                  <a:srgbClr val="0A0A0A"/>
                </a:solidFill>
              </a:rPr>
              <a:t>repeat(3, 1fr)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FADB25-0D7A-4A25-B496-0ED8ACC18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48200"/>
            <a:ext cx="4191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2E2B28"/>
                </a:solidFill>
              </a:defRPr>
            </a:pPr>
            <a:r>
              <a:rPr sz="1650">
                <a:solidFill>
                  <a:srgbClr val="2E2B28"/>
                </a:solidFill>
              </a:rPr>
              <a:t>สร้าง 3 คอลัมน์ที่แบ่งพื้นที่ว่างเท่ากัน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3EE672-C517-4206-B94B-67B841FF7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952625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817B74"/>
                </a:solidFill>
              </a:defRPr>
            </a:pPr>
            <a:r>
              <a:rPr sz="1500" b="1">
                <a:solidFill>
                  <a:srgbClr val="817B74"/>
                </a:solidFill>
              </a:rPr>
              <a:t>พื้นที่ว่าง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989784-69AB-4B56-BAD4-09F5AAEC5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514600"/>
            <a:ext cx="933450" cy="167640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D4D1CC"/>
          </a:solidFill>
          <a:ln xmlns:a="http://schemas.openxmlformats.org/drawingml/2006/main" w="0">
            <a:solidFill>
              <a:srgbClr val="D4D1C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DE47CB-EDAE-4D2A-A853-54ACC7FB8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2194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A0A0A"/>
                </a:solidFill>
              </a:defRPr>
            </a:pPr>
            <a:r>
              <a:rPr sz="1650" b="1">
                <a:solidFill>
                  <a:srgbClr val="0A0A0A"/>
                </a:solidFill>
              </a:rPr>
              <a:t>1fr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EBF013-F8DA-465D-924B-C5DEFD523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514600"/>
            <a:ext cx="186690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817B74"/>
          </a:solidFill>
          <a:ln xmlns:a="http://schemas.openxmlformats.org/drawingml/2006/main" w="0">
            <a:solidFill>
              <a:srgbClr val="817B7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1AE6D9-BD70-4E9E-9548-67597D78E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2194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4F4F2"/>
                </a:solidFill>
              </a:defRPr>
            </a:pPr>
            <a:r>
              <a:rPr sz="1650" b="1">
                <a:solidFill>
                  <a:srgbClr val="F4F4F2"/>
                </a:solidFill>
              </a:rPr>
              <a:t>2fr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D4CFF56-23BF-47FD-BBD5-434BD27AB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438650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A0A0A"/>
                </a:solidFill>
              </a:defRPr>
            </a:pPr>
            <a:r>
              <a:rPr sz="1350" b="1">
                <a:solidFill>
                  <a:srgbClr val="0A0A0A"/>
                </a:solidFill>
              </a:rPr>
              <a:t>1fr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E986F94-2731-4C0A-8B3B-4119FABED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438650"/>
            <a:ext cx="1866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A0A0A"/>
                </a:solidFill>
              </a:defRPr>
            </a:pPr>
            <a:r>
              <a:rPr sz="1350" b="1">
                <a:solidFill>
                  <a:srgbClr val="0A0A0A"/>
                </a:solidFill>
              </a:rPr>
              <a:t>2fr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D8FBAB7-D28D-458D-A077-DB3B46504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972050"/>
            <a:ext cx="3286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2E2B28"/>
                </a:solidFill>
              </a:defRPr>
            </a:pPr>
            <a:r>
              <a:rPr sz="1575">
                <a:solidFill>
                  <a:srgbClr val="2E2B28"/>
                </a:solidFill>
              </a:rPr>
              <a:t>1fr 2fr = แบ่งพื้นที่เป็น 3 ส่วน</a:t>
            </a:r>
          </a:p>
          <a:p xmlns:a="http://schemas.openxmlformats.org/drawingml/2006/main">
            <a:pPr>
              <a:defRPr sz="1575">
                <a:solidFill>
                  <a:srgbClr val="2E2B28"/>
                </a:solidFill>
              </a:defRPr>
            </a:pPr>
            <a:r>
              <a:rPr sz="1575">
                <a:solidFill>
                  <a:srgbClr val="2E2B28"/>
                </a:solidFill>
              </a:rPr>
              <a:t>คอลัมน์ที่สองได้ 2 ส่วน</a:t>
            </a:r>
          </a:p>
        </p:txBody>
      </p:sp>
    </p:spTree>
    <p:extLst>
      <p:ext uri="{BB962C8B-B14F-4D97-AF65-F5344CB8AC3E}">
        <p14:creationId xmlns:p14="http://schemas.microsoft.com/office/powerpoint/2010/main" val="143684888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4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49A11B6-823E-469D-BD63-C810E1854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876300"/>
            <a:ext cx="38100" cy="510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A0A"/>
          </a:solidFill>
          <a:ln xmlns:a="http://schemas.openxmlformats.org/drawingml/2006/main" w="0">
            <a:solidFill>
              <a:srgbClr val="0A0A0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1AAE83-0F24-4E77-8DC1-F4C53613D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1409700"/>
            <a:ext cx="2667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A0A0A"/>
                </a:solidFill>
              </a:defRPr>
            </a:pPr>
            <a:r>
              <a:rPr sz="1125" b="1">
                <a:solidFill>
                  <a:srgbClr val="0A0A0A"/>
                </a:solidFill>
              </a:rPr>
              <a:t>W</a:t>
            </a:r>
          </a:p>
          <a:p xmlns:a="http://schemas.openxmlformats.org/drawingml/2006/main">
            <a:pPr>
              <a:defRPr sz="1125" b="1">
                <a:solidFill>
                  <a:srgbClr val="0A0A0A"/>
                </a:solidFill>
              </a:defRPr>
            </a:pPr>
            <a:r>
              <a:rPr sz="1125" b="1">
                <a:solidFill>
                  <a:srgbClr val="0A0A0A"/>
                </a:solidFill>
              </a:rPr>
              <a:t>E</a:t>
            </a:r>
          </a:p>
          <a:p xmlns:a="http://schemas.openxmlformats.org/drawingml/2006/main">
            <a:pPr>
              <a:defRPr sz="1125" b="1">
                <a:solidFill>
                  <a:srgbClr val="0A0A0A"/>
                </a:solidFill>
              </a:defRPr>
            </a:pPr>
            <a:r>
              <a:rPr sz="1125" b="1">
                <a:solidFill>
                  <a:srgbClr val="0A0A0A"/>
                </a:solidFill>
              </a:rPr>
              <a:t>B</a:t>
            </a:r>
          </a:p>
          <a:p xmlns:a="http://schemas.openxmlformats.org/drawingml/2006/main">
            <a:pPr>
              <a:defRPr sz="1125" b="1">
                <a:solidFill>
                  <a:srgbClr val="0A0A0A"/>
                </a:solidFill>
              </a:defRPr>
            </a:pPr>
            <a:r>
              <a:rPr sz="1125" b="1">
                <a:solidFill>
                  <a:srgbClr val="0A0A0A"/>
                </a:solidFill>
              </a:rPr>
              <a:t>S</a:t>
            </a:r>
          </a:p>
          <a:p xmlns:a="http://schemas.openxmlformats.org/drawingml/2006/main">
            <a:pPr>
              <a:defRPr sz="1125" b="1">
                <a:solidFill>
                  <a:srgbClr val="0A0A0A"/>
                </a:solidFill>
              </a:defRPr>
            </a:pPr>
            <a:r>
              <a:rPr sz="1125" b="1">
                <a:solidFill>
                  <a:srgbClr val="0A0A0A"/>
                </a:solidFill>
              </a:rPr>
              <a:t>I</a:t>
            </a:r>
          </a:p>
          <a:p xmlns:a="http://schemas.openxmlformats.org/drawingml/2006/main">
            <a:pPr>
              <a:defRPr sz="1125" b="1">
                <a:solidFill>
                  <a:srgbClr val="0A0A0A"/>
                </a:solidFill>
              </a:defRPr>
            </a:pPr>
            <a:r>
              <a:rPr sz="1125" b="1">
                <a:solidFill>
                  <a:srgbClr val="0A0A0A"/>
                </a:solidFill>
              </a:rPr>
              <a:t>T</a:t>
            </a:r>
          </a:p>
          <a:p xmlns:a="http://schemas.openxmlformats.org/drawingml/2006/main">
            <a:pPr>
              <a:defRPr sz="1125" b="1">
                <a:solidFill>
                  <a:srgbClr val="0A0A0A"/>
                </a:solidFill>
              </a:defRPr>
            </a:pPr>
            <a:r>
              <a:rPr sz="1125" b="1">
                <a:solidFill>
                  <a:srgbClr val="0A0A0A"/>
                </a:solidFill>
              </a:rPr>
              <a:t>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BD0A5A-85D0-4460-9D60-D6190DD65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43650"/>
            <a:ext cx="542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817B74"/>
                </a:solidFill>
              </a:defRPr>
            </a:pPr>
            <a:r>
              <a:rPr sz="900" b="1">
                <a:solidFill>
                  <a:srgbClr val="817B74"/>
                </a:solidFill>
              </a:rPr>
              <a:t>21909-1006  •  WEEK 10  •  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ECA502-F197-4246-A5FE-2CDA64CEB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47700"/>
            <a:ext cx="9144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A0A0A"/>
                </a:solidFill>
              </a:defRPr>
            </a:pPr>
            <a:r>
              <a:rPr sz="2850" b="1">
                <a:solidFill>
                  <a:srgbClr val="0A0A0A"/>
                </a:solidFill>
              </a:rPr>
              <a:t>span ทำให้ภาพเด่นกินพื้นที่ได้มากกว่าหนึ่งช่อง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9E83AD-B536-4862-AF78-78AD3C09F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304925"/>
            <a:ext cx="876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817B74"/>
                </a:solidFill>
              </a:defRPr>
            </a:pPr>
            <a:r>
              <a:rPr sz="1350">
                <a:solidFill>
                  <a:srgbClr val="817B74"/>
                </a:solidFill>
              </a:rPr>
              <a:t>กำหนดขนาดแนวนอนด้วย grid-column และแนวตั้งด้วย grid-row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FC1AF6-0A80-4606-9C42-70A97C479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00250"/>
            <a:ext cx="3543300" cy="1524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1D1D1B"/>
          </a:solidFill>
          <a:ln xmlns:a="http://schemas.openxmlformats.org/drawingml/2006/main" w="0">
            <a:solidFill>
              <a:srgbClr val="1D1D1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A6A4BC-043D-44D3-A53B-6FFE77932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71700"/>
            <a:ext cx="31242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F4F4F2"/>
                </a:solidFill>
              </a:defRPr>
            </a:pPr>
            <a:r>
              <a:rPr sz="1425">
                <a:solidFill>
                  <a:srgbClr val="F4F4F2"/>
                </a:solidFill>
              </a:rPr>
              <a:t>.featured {</a:t>
            </a:r>
          </a:p>
          <a:p xmlns:a="http://schemas.openxmlformats.org/drawingml/2006/main">
            <a:pPr>
              <a:defRPr sz="1425">
                <a:solidFill>
                  <a:srgbClr val="F4F4F2"/>
                </a:solidFill>
              </a:defRPr>
            </a:pPr>
            <a:r>
              <a:rPr sz="1425">
                <a:solidFill>
                  <a:srgbClr val="F4F4F2"/>
                </a:solidFill>
              </a:rPr>
              <a:t>  grid-column: span 2;</a:t>
            </a:r>
          </a:p>
          <a:p xmlns:a="http://schemas.openxmlformats.org/drawingml/2006/main">
            <a:pPr>
              <a:defRPr sz="1425">
                <a:solidFill>
                  <a:srgbClr val="F4F4F2"/>
                </a:solidFill>
              </a:defRPr>
            </a:pPr>
            <a:r>
              <a:rPr sz="1425">
                <a:solidFill>
                  <a:srgbClr val="F4F4F2"/>
                </a:solidFill>
              </a:rPr>
              <a:t>  grid-row: span 2;</a:t>
            </a:r>
          </a:p>
          <a:p xmlns:a="http://schemas.openxmlformats.org/drawingml/2006/main">
            <a:pPr>
              <a:defRPr sz="1425">
                <a:solidFill>
                  <a:srgbClr val="F4F4F2"/>
                </a:solidFill>
              </a:defRPr>
            </a:pPr>
            <a:r>
              <a:rPr sz="1425">
                <a:solidFill>
                  <a:srgbClr val="F4F4F2"/>
                </a:solidFill>
              </a:rPr>
              <a:t>}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DF8440-604D-4440-86F3-C1188B0C3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14775"/>
            <a:ext cx="3476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A0A0A"/>
                </a:solidFill>
              </a:defRPr>
            </a:pPr>
            <a:r>
              <a:rPr sz="1875" b="1">
                <a:solidFill>
                  <a:srgbClr val="0A0A0A"/>
                </a:solidFill>
              </a:rPr>
              <a:t>ใช้กับภาพเด่น</a:t>
            </a:r>
          </a:p>
          <a:p xmlns:a="http://schemas.openxmlformats.org/drawingml/2006/main">
            <a:pPr>
              <a:defRPr sz="1875" b="1">
                <a:solidFill>
                  <a:srgbClr val="0A0A0A"/>
                </a:solidFill>
              </a:defRPr>
            </a:pPr>
            <a:r>
              <a:rPr sz="1875" b="1">
                <a:solidFill>
                  <a:srgbClr val="0A0A0A"/>
                </a:solidFill>
              </a:rPr>
              <a:t>หรือการ์ดข้อมูลสำคัญ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8CA02D-3C93-4626-A451-6C3CC0A30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000250"/>
            <a:ext cx="2228850" cy="2228850"/>
          </a:xfrm>
          <a:prstGeom xmlns:a="http://schemas.openxmlformats.org/drawingml/2006/main" prst="roundRect">
            <a:avLst>
              <a:gd name="adj" fmla="val 3419"/>
            </a:avLst>
          </a:prstGeom>
          <a:solidFill xmlns:a="http://schemas.openxmlformats.org/drawingml/2006/main">
            <a:srgbClr val="323232"/>
          </a:solidFill>
          <a:ln xmlns:a="http://schemas.openxmlformats.org/drawingml/2006/main" w="0">
            <a:solidFill>
              <a:srgbClr val="32323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FEBD14-0B6F-40F2-9837-77059C9FE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98132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4F4F2"/>
                </a:solidFill>
              </a:defRPr>
            </a:pPr>
            <a:r>
              <a:rPr sz="1350" b="1">
                <a:solidFill>
                  <a:srgbClr val="F4F4F2"/>
                </a:solidFill>
              </a:rPr>
              <a:t>FEATURED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21641A-17DE-4790-B434-0CACD30B2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000250"/>
            <a:ext cx="104775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D4D1CC"/>
          </a:solidFill>
          <a:ln xmlns:a="http://schemas.openxmlformats.org/drawingml/2006/main" w="0">
            <a:solidFill>
              <a:srgbClr val="D4D1C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235FCB-50D3-44A6-B803-3FF4F2023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390775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A0A0A"/>
                </a:solidFill>
              </a:defRPr>
            </a:pPr>
            <a:r>
              <a:rPr sz="1275" b="1">
                <a:solidFill>
                  <a:srgbClr val="0A0A0A"/>
                </a:solidFill>
              </a:rPr>
              <a:t>B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ACFC76-5BE4-4211-AADC-D690304DE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181350"/>
            <a:ext cx="104775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AAA59E"/>
          </a:solidFill>
          <a:ln xmlns:a="http://schemas.openxmlformats.org/drawingml/2006/main" w="0">
            <a:solidFill>
              <a:srgbClr val="AAA59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1606C02-9319-4CE3-BC1F-89DCA523B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571875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A0A0A"/>
                </a:solidFill>
              </a:defRPr>
            </a:pPr>
            <a:r>
              <a:rPr sz="1275" b="1">
                <a:solidFill>
                  <a:srgbClr val="0A0A0A"/>
                </a:solidFill>
              </a:rPr>
              <a:t>C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2555A6B-46FA-4B47-86A5-7EFB771EB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4362450"/>
            <a:ext cx="104775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AAA59E"/>
          </a:solidFill>
          <a:ln xmlns:a="http://schemas.openxmlformats.org/drawingml/2006/main" w="0">
            <a:solidFill>
              <a:srgbClr val="AAA59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FFDFBF-E97A-4108-BAAA-F6BFB479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752975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A0A0A"/>
                </a:solidFill>
              </a:defRPr>
            </a:pPr>
            <a:r>
              <a:rPr sz="1275" b="1">
                <a:solidFill>
                  <a:srgbClr val="0A0A0A"/>
                </a:solidFill>
              </a:rPr>
              <a:t>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4D831CC-87CF-44F2-91A7-C5620A521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362450"/>
            <a:ext cx="104775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D4D1CC"/>
          </a:solidFill>
          <a:ln xmlns:a="http://schemas.openxmlformats.org/drawingml/2006/main" w="0">
            <a:solidFill>
              <a:srgbClr val="D4D1C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9306D18-956E-47E4-8AB5-14959B3D3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752975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A0A0A"/>
                </a:solidFill>
              </a:defRPr>
            </a:pPr>
            <a:r>
              <a:rPr sz="1275" b="1">
                <a:solidFill>
                  <a:srgbClr val="0A0A0A"/>
                </a:solidFill>
              </a:rPr>
              <a:t>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9590B8D-C0A4-463E-9A6C-F9CDF9F74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362450"/>
            <a:ext cx="104775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817B74"/>
          </a:solidFill>
          <a:ln xmlns:a="http://schemas.openxmlformats.org/drawingml/2006/main" w="0">
            <a:solidFill>
              <a:srgbClr val="817B7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E22F4CA-B66E-45B7-8769-FA5D5BCF9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752975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4F4F2"/>
                </a:solidFill>
              </a:defRPr>
            </a:pPr>
            <a:r>
              <a:rPr sz="1275" b="1">
                <a:solidFill>
                  <a:srgbClr val="F4F4F2"/>
                </a:solidFill>
              </a:rPr>
              <a:t>F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30FB308-B1E0-4F49-A350-E2535F8F0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5657850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2E2B28"/>
                </a:solidFill>
              </a:defRPr>
            </a:pPr>
            <a:r>
              <a:rPr sz="1575" b="1">
                <a:solidFill>
                  <a:srgbClr val="2E2B28"/>
                </a:solidFill>
              </a:rPr>
              <a:t>ภาพเด่นขยาย 2 คอลัมน์ × 2 แถว</a:t>
            </a:r>
          </a:p>
        </p:txBody>
      </p:sp>
    </p:spTree>
    <p:extLst>
      <p:ext uri="{BB962C8B-B14F-4D97-AF65-F5344CB8AC3E}">
        <p14:creationId xmlns:p14="http://schemas.microsoft.com/office/powerpoint/2010/main" val="81440904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4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21023CC-39B6-477B-BEA0-BF34BABF5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876300"/>
            <a:ext cx="38100" cy="510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A0A"/>
          </a:solidFill>
          <a:ln xmlns:a="http://schemas.openxmlformats.org/drawingml/2006/main" w="0">
            <a:solidFill>
              <a:srgbClr val="0A0A0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018C52-D0DA-4E9A-823C-5E04F4935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1409700"/>
            <a:ext cx="2667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A0A0A"/>
                </a:solidFill>
              </a:defRPr>
            </a:pPr>
            <a:r>
              <a:rPr sz="1125" b="1">
                <a:solidFill>
                  <a:srgbClr val="0A0A0A"/>
                </a:solidFill>
              </a:rPr>
              <a:t>W</a:t>
            </a:r>
          </a:p>
          <a:p xmlns:a="http://schemas.openxmlformats.org/drawingml/2006/main">
            <a:pPr>
              <a:defRPr sz="1125" b="1">
                <a:solidFill>
                  <a:srgbClr val="0A0A0A"/>
                </a:solidFill>
              </a:defRPr>
            </a:pPr>
            <a:r>
              <a:rPr sz="1125" b="1">
                <a:solidFill>
                  <a:srgbClr val="0A0A0A"/>
                </a:solidFill>
              </a:rPr>
              <a:t>E</a:t>
            </a:r>
          </a:p>
          <a:p xmlns:a="http://schemas.openxmlformats.org/drawingml/2006/main">
            <a:pPr>
              <a:defRPr sz="1125" b="1">
                <a:solidFill>
                  <a:srgbClr val="0A0A0A"/>
                </a:solidFill>
              </a:defRPr>
            </a:pPr>
            <a:r>
              <a:rPr sz="1125" b="1">
                <a:solidFill>
                  <a:srgbClr val="0A0A0A"/>
                </a:solidFill>
              </a:rPr>
              <a:t>B</a:t>
            </a:r>
          </a:p>
          <a:p xmlns:a="http://schemas.openxmlformats.org/drawingml/2006/main">
            <a:pPr>
              <a:defRPr sz="1125" b="1">
                <a:solidFill>
                  <a:srgbClr val="0A0A0A"/>
                </a:solidFill>
              </a:defRPr>
            </a:pPr>
            <a:r>
              <a:rPr sz="1125" b="1">
                <a:solidFill>
                  <a:srgbClr val="0A0A0A"/>
                </a:solidFill>
              </a:rPr>
              <a:t>S</a:t>
            </a:r>
          </a:p>
          <a:p xmlns:a="http://schemas.openxmlformats.org/drawingml/2006/main">
            <a:pPr>
              <a:defRPr sz="1125" b="1">
                <a:solidFill>
                  <a:srgbClr val="0A0A0A"/>
                </a:solidFill>
              </a:defRPr>
            </a:pPr>
            <a:r>
              <a:rPr sz="1125" b="1">
                <a:solidFill>
                  <a:srgbClr val="0A0A0A"/>
                </a:solidFill>
              </a:rPr>
              <a:t>I</a:t>
            </a:r>
          </a:p>
          <a:p xmlns:a="http://schemas.openxmlformats.org/drawingml/2006/main">
            <a:pPr>
              <a:defRPr sz="1125" b="1">
                <a:solidFill>
                  <a:srgbClr val="0A0A0A"/>
                </a:solidFill>
              </a:defRPr>
            </a:pPr>
            <a:r>
              <a:rPr sz="1125" b="1">
                <a:solidFill>
                  <a:srgbClr val="0A0A0A"/>
                </a:solidFill>
              </a:rPr>
              <a:t>T</a:t>
            </a:r>
          </a:p>
          <a:p xmlns:a="http://schemas.openxmlformats.org/drawingml/2006/main">
            <a:pPr>
              <a:defRPr sz="1125" b="1">
                <a:solidFill>
                  <a:srgbClr val="0A0A0A"/>
                </a:solidFill>
              </a:defRPr>
            </a:pPr>
            <a:r>
              <a:rPr sz="1125" b="1">
                <a:solidFill>
                  <a:srgbClr val="0A0A0A"/>
                </a:solidFill>
              </a:rPr>
              <a:t>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E077C8-9CCB-4C8B-91E5-B135C8DBF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43650"/>
            <a:ext cx="542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817B74"/>
                </a:solidFill>
              </a:defRPr>
            </a:pPr>
            <a:r>
              <a:rPr sz="900" b="1">
                <a:solidFill>
                  <a:srgbClr val="817B74"/>
                </a:solidFill>
              </a:rPr>
              <a:t>21909-1006  •  WEEK 10  •  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CB4826-D07A-487D-98A2-ED916C964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47700"/>
            <a:ext cx="9144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A0A0A"/>
                </a:solidFill>
              </a:defRPr>
            </a:pPr>
            <a:r>
              <a:rPr sz="2850" b="1">
                <a:solidFill>
                  <a:srgbClr val="0A0A0A"/>
                </a:solidFill>
              </a:rPr>
              <a:t>ตั้งชื่อพื้นที่ของหน้าเว็บเพื่ออ่าน CSS ได้ทันที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C32782-E0ED-44A5-A8CF-6BE0DBF40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304925"/>
            <a:ext cx="876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817B74"/>
                </a:solidFill>
              </a:defRPr>
            </a:pPr>
            <a:r>
              <a:rPr sz="1350">
                <a:solidFill>
                  <a:srgbClr val="817B74"/>
                </a:solidFill>
              </a:rPr>
              <a:t>grid-template-areas เหมาะกับโครงสร้างที่มี Header, Sidebar, Main และ Footer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7F0507-889B-4CAC-814D-2F701DD5E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43100"/>
            <a:ext cx="4381500" cy="2457450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1D1D1B"/>
          </a:solidFill>
          <a:ln xmlns:a="http://schemas.openxmlformats.org/drawingml/2006/main" w="0">
            <a:solidFill>
              <a:srgbClr val="1D1D1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AD0AC3-59A9-4EB5-9ABB-F89925582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14550"/>
            <a:ext cx="3962400" cy="213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F4F4F2"/>
                </a:solidFill>
              </a:defRPr>
            </a:pPr>
            <a:r>
              <a:rPr sz="1200">
                <a:solidFill>
                  <a:srgbClr val="F4F4F2"/>
                </a:solidFill>
              </a:rPr>
              <a:t>.site-layout {</a:t>
            </a:r>
          </a:p>
          <a:p xmlns:a="http://schemas.openxmlformats.org/drawingml/2006/main">
            <a:pPr>
              <a:defRPr sz="1200">
                <a:solidFill>
                  <a:srgbClr val="F4F4F2"/>
                </a:solidFill>
              </a:defRPr>
            </a:pPr>
            <a:r>
              <a:rPr sz="1200">
                <a:solidFill>
                  <a:srgbClr val="F4F4F2"/>
                </a:solidFill>
              </a:rPr>
              <a:t>  display: grid;</a:t>
            </a:r>
          </a:p>
          <a:p xmlns:a="http://schemas.openxmlformats.org/drawingml/2006/main">
            <a:pPr>
              <a:defRPr sz="1200">
                <a:solidFill>
                  <a:srgbClr val="F4F4F2"/>
                </a:solidFill>
              </a:defRPr>
            </a:pPr>
            <a:r>
              <a:rPr sz="1200">
                <a:solidFill>
                  <a:srgbClr val="F4F4F2"/>
                </a:solidFill>
              </a:rPr>
              <a:t>  grid-template-areas:</a:t>
            </a:r>
          </a:p>
          <a:p xmlns:a="http://schemas.openxmlformats.org/drawingml/2006/main">
            <a:pPr>
              <a:defRPr sz="1200">
                <a:solidFill>
                  <a:srgbClr val="F4F4F2"/>
                </a:solidFill>
              </a:defRPr>
            </a:pPr>
            <a:r>
              <a:rPr sz="1200">
                <a:solidFill>
                  <a:srgbClr val="F4F4F2"/>
                </a:solidFill>
              </a:rPr>
              <a:t>    "header header"</a:t>
            </a:r>
          </a:p>
          <a:p xmlns:a="http://schemas.openxmlformats.org/drawingml/2006/main">
            <a:pPr>
              <a:defRPr sz="1200">
                <a:solidFill>
                  <a:srgbClr val="F4F4F2"/>
                </a:solidFill>
              </a:defRPr>
            </a:pPr>
            <a:r>
              <a:rPr sz="1200">
                <a:solidFill>
                  <a:srgbClr val="F4F4F2"/>
                </a:solidFill>
              </a:rPr>
              <a:t>    "sidebar main"</a:t>
            </a:r>
          </a:p>
          <a:p xmlns:a="http://schemas.openxmlformats.org/drawingml/2006/main">
            <a:pPr>
              <a:defRPr sz="1200">
                <a:solidFill>
                  <a:srgbClr val="F4F4F2"/>
                </a:solidFill>
              </a:defRPr>
            </a:pPr>
            <a:r>
              <a:rPr sz="1200">
                <a:solidFill>
                  <a:srgbClr val="F4F4F2"/>
                </a:solidFill>
              </a:rPr>
              <a:t>    "footer footer";</a:t>
            </a:r>
          </a:p>
          <a:p xmlns:a="http://schemas.openxmlformats.org/drawingml/2006/main">
            <a:pPr>
              <a:defRPr sz="1200">
                <a:solidFill>
                  <a:srgbClr val="F4F4F2"/>
                </a:solidFill>
              </a:defRPr>
            </a:pPr>
            <a:r>
              <a:rPr sz="1200">
                <a:solidFill>
                  <a:srgbClr val="F4F4F2"/>
                </a:solidFill>
              </a:rPr>
              <a:t>}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80DE20-7B7C-43DF-8B97-264ABB762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62500"/>
            <a:ext cx="381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A0A0A"/>
                </a:solidFill>
              </a:defRPr>
            </a:pPr>
            <a:r>
              <a:rPr sz="1800" b="1">
                <a:solidFill>
                  <a:srgbClr val="0A0A0A"/>
                </a:solidFill>
              </a:rPr>
              <a:t>แทนที่จะจำเส้นกริด</a:t>
            </a:r>
          </a:p>
          <a:p xmlns:a="http://schemas.openxmlformats.org/drawingml/2006/main">
            <a:pPr>
              <a:defRPr sz="1800" b="1">
                <a:solidFill>
                  <a:srgbClr val="0A0A0A"/>
                </a:solidFill>
              </a:defRPr>
            </a:pPr>
            <a:r>
              <a:rPr sz="1800" b="1">
                <a:solidFill>
                  <a:srgbClr val="0A0A0A"/>
                </a:solidFill>
              </a:rPr>
              <a:t>เราเรียกชื่อพื้นที่ได้ตรง ๆ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BEB0E9-339C-4E58-ACCF-74D547B47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038350"/>
            <a:ext cx="33909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323232"/>
          </a:solidFill>
          <a:ln xmlns:a="http://schemas.openxmlformats.org/drawingml/2006/main" w="0">
            <a:solidFill>
              <a:srgbClr val="32323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73E50F-3F93-4909-A816-BAFF97518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228850"/>
            <a:ext cx="320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4F4F2"/>
                </a:solidFill>
              </a:defRPr>
            </a:pPr>
            <a:r>
              <a:rPr sz="1350" b="1">
                <a:solidFill>
                  <a:srgbClr val="F4F4F2"/>
                </a:solidFill>
              </a:rPr>
              <a:t>HEADER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363712-589E-4934-B560-696C37699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819400"/>
            <a:ext cx="1200150" cy="18859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AAA59E"/>
          </a:solidFill>
          <a:ln xmlns:a="http://schemas.openxmlformats.org/drawingml/2006/main" w="0">
            <a:solidFill>
              <a:srgbClr val="AAA59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0AD9DA-F1AA-4EF1-B923-4976053F3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629025"/>
            <a:ext cx="1009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A0A0A"/>
                </a:solidFill>
              </a:defRPr>
            </a:pPr>
            <a:r>
              <a:rPr sz="1125" b="1">
                <a:solidFill>
                  <a:srgbClr val="0A0A0A"/>
                </a:solidFill>
              </a:rPr>
              <a:t>SIDEBAR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37601B-F26F-494E-9D1F-C5A0AB035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819400"/>
            <a:ext cx="2057400" cy="1885950"/>
          </a:xfrm>
          <a:prstGeom xmlns:a="http://schemas.openxmlformats.org/drawingml/2006/main" prst="roundRect">
            <a:avLst>
              <a:gd name="adj" fmla="val 4040"/>
            </a:avLst>
          </a:prstGeom>
          <a:solidFill xmlns:a="http://schemas.openxmlformats.org/drawingml/2006/main">
            <a:srgbClr val="D4D1CC"/>
          </a:solidFill>
          <a:ln xmlns:a="http://schemas.openxmlformats.org/drawingml/2006/main" w="0">
            <a:solidFill>
              <a:srgbClr val="D4D1C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C3E37E-64A0-4B1D-A090-C2BBD82E6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629025"/>
            <a:ext cx="1866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A0A0A"/>
                </a:solidFill>
              </a:defRPr>
            </a:pPr>
            <a:r>
              <a:rPr sz="1275" b="1">
                <a:solidFill>
                  <a:srgbClr val="0A0A0A"/>
                </a:solidFill>
              </a:rPr>
              <a:t>MAIN CONTENT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ED2F3C-B861-4739-8111-84EC120D4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4838700"/>
            <a:ext cx="33909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817B74"/>
          </a:solidFill>
          <a:ln xmlns:a="http://schemas.openxmlformats.org/drawingml/2006/main" w="0">
            <a:solidFill>
              <a:srgbClr val="817B7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A2DF5FA-C967-45A9-B20C-292F81B89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972050"/>
            <a:ext cx="320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4F4F2"/>
                </a:solidFill>
              </a:defRPr>
            </a:pPr>
            <a:r>
              <a:rPr sz="1275" b="1">
                <a:solidFill>
                  <a:srgbClr val="F4F4F2"/>
                </a:solidFill>
              </a:rPr>
              <a:t>FOOTER</a:t>
            </a:r>
          </a:p>
        </p:txBody>
      </p:sp>
    </p:spTree>
    <p:extLst>
      <p:ext uri="{BB962C8B-B14F-4D97-AF65-F5344CB8AC3E}">
        <p14:creationId xmlns:p14="http://schemas.microsoft.com/office/powerpoint/2010/main" val="57685006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4F4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0138D3-F509-46CC-8495-1928881FF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876300"/>
            <a:ext cx="38100" cy="510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A0A"/>
          </a:solidFill>
          <a:ln xmlns:a="http://schemas.openxmlformats.org/drawingml/2006/main" w="0">
            <a:solidFill>
              <a:srgbClr val="0A0A0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1A3E9D-7365-4402-9814-534625FF6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1409700"/>
            <a:ext cx="2667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A0A0A"/>
                </a:solidFill>
              </a:defRPr>
            </a:pPr>
            <a:r>
              <a:rPr sz="1125" b="1">
                <a:solidFill>
                  <a:srgbClr val="0A0A0A"/>
                </a:solidFill>
              </a:rPr>
              <a:t>W</a:t>
            </a:r>
          </a:p>
          <a:p xmlns:a="http://schemas.openxmlformats.org/drawingml/2006/main">
            <a:pPr>
              <a:defRPr sz="1125" b="1">
                <a:solidFill>
                  <a:srgbClr val="0A0A0A"/>
                </a:solidFill>
              </a:defRPr>
            </a:pPr>
            <a:r>
              <a:rPr sz="1125" b="1">
                <a:solidFill>
                  <a:srgbClr val="0A0A0A"/>
                </a:solidFill>
              </a:rPr>
              <a:t>E</a:t>
            </a:r>
          </a:p>
          <a:p xmlns:a="http://schemas.openxmlformats.org/drawingml/2006/main">
            <a:pPr>
              <a:defRPr sz="1125" b="1">
                <a:solidFill>
                  <a:srgbClr val="0A0A0A"/>
                </a:solidFill>
              </a:defRPr>
            </a:pPr>
            <a:r>
              <a:rPr sz="1125" b="1">
                <a:solidFill>
                  <a:srgbClr val="0A0A0A"/>
                </a:solidFill>
              </a:rPr>
              <a:t>B</a:t>
            </a:r>
          </a:p>
          <a:p xmlns:a="http://schemas.openxmlformats.org/drawingml/2006/main">
            <a:pPr>
              <a:defRPr sz="1125" b="1">
                <a:solidFill>
                  <a:srgbClr val="0A0A0A"/>
                </a:solidFill>
              </a:defRPr>
            </a:pPr>
            <a:r>
              <a:rPr sz="1125" b="1">
                <a:solidFill>
                  <a:srgbClr val="0A0A0A"/>
                </a:solidFill>
              </a:rPr>
              <a:t>S</a:t>
            </a:r>
          </a:p>
          <a:p xmlns:a="http://schemas.openxmlformats.org/drawingml/2006/main">
            <a:pPr>
              <a:defRPr sz="1125" b="1">
                <a:solidFill>
                  <a:srgbClr val="0A0A0A"/>
                </a:solidFill>
              </a:defRPr>
            </a:pPr>
            <a:r>
              <a:rPr sz="1125" b="1">
                <a:solidFill>
                  <a:srgbClr val="0A0A0A"/>
                </a:solidFill>
              </a:rPr>
              <a:t>I</a:t>
            </a:r>
          </a:p>
          <a:p xmlns:a="http://schemas.openxmlformats.org/drawingml/2006/main">
            <a:pPr>
              <a:defRPr sz="1125" b="1">
                <a:solidFill>
                  <a:srgbClr val="0A0A0A"/>
                </a:solidFill>
              </a:defRPr>
            </a:pPr>
            <a:r>
              <a:rPr sz="1125" b="1">
                <a:solidFill>
                  <a:srgbClr val="0A0A0A"/>
                </a:solidFill>
              </a:rPr>
              <a:t>T</a:t>
            </a:r>
          </a:p>
          <a:p xmlns:a="http://schemas.openxmlformats.org/drawingml/2006/main">
            <a:pPr>
              <a:defRPr sz="1125" b="1">
                <a:solidFill>
                  <a:srgbClr val="0A0A0A"/>
                </a:solidFill>
              </a:defRPr>
            </a:pPr>
            <a:r>
              <a:rPr sz="1125" b="1">
                <a:solidFill>
                  <a:srgbClr val="0A0A0A"/>
                </a:solidFill>
              </a:rPr>
              <a:t>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FAEC45-64BD-42ED-8633-B43F3C5FC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43650"/>
            <a:ext cx="542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817B74"/>
                </a:solidFill>
              </a:defRPr>
            </a:pPr>
            <a:r>
              <a:rPr sz="900" b="1">
                <a:solidFill>
                  <a:srgbClr val="817B74"/>
                </a:solidFill>
              </a:rPr>
              <a:t>21909-1006  •  WEEK 10  •  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2EF848-224D-4F9F-A080-806BBF889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47700"/>
            <a:ext cx="9144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A0A0A"/>
                </a:solidFill>
              </a:defRPr>
            </a:pPr>
            <a:r>
              <a:rPr sz="2850" b="1">
                <a:solidFill>
                  <a:srgbClr val="0A0A0A"/>
                </a:solidFill>
              </a:rPr>
              <a:t>ให้กริดเพิ่มและลดคอลัมน์เองตามพื้นที่หน้าจอ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A11519-EC21-4CB2-8D19-905FA5A1D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304925"/>
            <a:ext cx="876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817B74"/>
                </a:solidFill>
              </a:defRPr>
            </a:pPr>
            <a:r>
              <a:rPr sz="1350">
                <a:solidFill>
                  <a:srgbClr val="817B74"/>
                </a:solidFill>
              </a:rPr>
              <a:t>auto-fit และ minmax() ทำให้แกลเลอรีตอบสนองได้โดยใช้ CSS น้อยลง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36FAD1-6178-4A3B-BCF5-3E79E0110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19300"/>
            <a:ext cx="4762500" cy="2019300"/>
          </a:xfrm>
          <a:prstGeom xmlns:a="http://schemas.openxmlformats.org/drawingml/2006/main" prst="roundRect">
            <a:avLst>
              <a:gd name="adj" fmla="val 5660"/>
            </a:avLst>
          </a:prstGeom>
          <a:solidFill xmlns:a="http://schemas.openxmlformats.org/drawingml/2006/main">
            <a:srgbClr val="1D1D1B"/>
          </a:solidFill>
          <a:ln xmlns:a="http://schemas.openxmlformats.org/drawingml/2006/main" w="0">
            <a:solidFill>
              <a:srgbClr val="1D1D1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402039-D0DE-4C8C-AE3D-6B61BC15B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190750"/>
            <a:ext cx="434340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F4F4F2"/>
                </a:solidFill>
              </a:defRPr>
            </a:pPr>
            <a:r>
              <a:rPr sz="1275">
                <a:solidFill>
                  <a:srgbClr val="F4F4F2"/>
                </a:solidFill>
              </a:rPr>
              <a:t>.gallery {</a:t>
            </a:r>
          </a:p>
          <a:p xmlns:a="http://schemas.openxmlformats.org/drawingml/2006/main">
            <a:pPr>
              <a:defRPr sz="1275">
                <a:solidFill>
                  <a:srgbClr val="F4F4F2"/>
                </a:solidFill>
              </a:defRPr>
            </a:pPr>
            <a:r>
              <a:rPr sz="1275">
                <a:solidFill>
                  <a:srgbClr val="F4F4F2"/>
                </a:solidFill>
              </a:rPr>
              <a:t>  display: grid;</a:t>
            </a:r>
          </a:p>
          <a:p xmlns:a="http://schemas.openxmlformats.org/drawingml/2006/main">
            <a:pPr>
              <a:defRPr sz="1275">
                <a:solidFill>
                  <a:srgbClr val="F4F4F2"/>
                </a:solidFill>
              </a:defRPr>
            </a:pPr>
            <a:r>
              <a:rPr sz="1275">
                <a:solidFill>
                  <a:srgbClr val="F4F4F2"/>
                </a:solidFill>
              </a:rPr>
              <a:t>  grid-template-columns:</a:t>
            </a:r>
          </a:p>
          <a:p xmlns:a="http://schemas.openxmlformats.org/drawingml/2006/main">
            <a:pPr>
              <a:defRPr sz="1275">
                <a:solidFill>
                  <a:srgbClr val="F4F4F2"/>
                </a:solidFill>
              </a:defRPr>
            </a:pPr>
            <a:r>
              <a:rPr sz="1275">
                <a:solidFill>
                  <a:srgbClr val="F4F4F2"/>
                </a:solidFill>
              </a:rPr>
              <a:t>    repeat(auto-fit, minmax(180px, 1fr));</a:t>
            </a:r>
          </a:p>
          <a:p xmlns:a="http://schemas.openxmlformats.org/drawingml/2006/main">
            <a:pPr>
              <a:defRPr sz="1275">
                <a:solidFill>
                  <a:srgbClr val="F4F4F2"/>
                </a:solidFill>
              </a:defRPr>
            </a:pPr>
            <a:r>
              <a:rPr sz="1275">
                <a:solidFill>
                  <a:srgbClr val="F4F4F2"/>
                </a:solidFill>
              </a:rPr>
              <a:t>  gap: 16px;</a:t>
            </a:r>
          </a:p>
          <a:p xmlns:a="http://schemas.openxmlformats.org/drawingml/2006/main">
            <a:pPr>
              <a:defRPr sz="1275">
                <a:solidFill>
                  <a:srgbClr val="F4F4F2"/>
                </a:solidFill>
              </a:defRPr>
            </a:pPr>
            <a:r>
              <a:rPr sz="1275">
                <a:solidFill>
                  <a:srgbClr val="F4F4F2"/>
                </a:solidFill>
              </a:rPr>
              <a:t>}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7B57FA-0AD1-4231-8AE0-FFD12F14B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10075"/>
            <a:ext cx="4495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A0A0A"/>
                </a:solidFill>
              </a:defRPr>
            </a:pPr>
            <a:r>
              <a:rPr sz="1725" b="1">
                <a:solidFill>
                  <a:srgbClr val="0A0A0A"/>
                </a:solidFill>
              </a:rPr>
              <a:t>แต่ละช่องกว้างไม่น้อยกว่า 180px</a:t>
            </a:r>
          </a:p>
          <a:p xmlns:a="http://schemas.openxmlformats.org/drawingml/2006/main">
            <a:pPr>
              <a:defRPr sz="1725" b="1">
                <a:solidFill>
                  <a:srgbClr val="0A0A0A"/>
                </a:solidFill>
              </a:defRPr>
            </a:pPr>
            <a:r>
              <a:rPr sz="1725" b="1">
                <a:solidFill>
                  <a:srgbClr val="0A0A0A"/>
                </a:solidFill>
              </a:rPr>
              <a:t>และขยายเติมพื้นที่ที่เหลือ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DF0C97-8004-44A3-91A2-1AFFEF4BF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905000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17B74"/>
                </a:solidFill>
              </a:defRPr>
            </a:pPr>
            <a:r>
              <a:rPr sz="1350" b="1">
                <a:solidFill>
                  <a:srgbClr val="817B74"/>
                </a:solidFill>
              </a:rPr>
              <a:t>หน้าจอกว้าง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3643F5-DF9E-4305-9A56-9024A2354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324100"/>
            <a:ext cx="609600" cy="93345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D4D1CC"/>
          </a:solidFill>
          <a:ln xmlns:a="http://schemas.openxmlformats.org/drawingml/2006/main" w="0">
            <a:solidFill>
              <a:srgbClr val="D4D1C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89E6C4-78AF-4D21-994B-AC7A76971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657475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100367-BC6E-45C6-BCD8-AE179EE76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324100"/>
            <a:ext cx="609600" cy="93345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AAA59E"/>
          </a:solidFill>
          <a:ln xmlns:a="http://schemas.openxmlformats.org/drawingml/2006/main" w="0">
            <a:solidFill>
              <a:srgbClr val="AAA59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1C852B-72C9-49F8-B795-BDEAE5B28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657475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6E9663-DC33-4169-BC1B-66D1E40EE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324100"/>
            <a:ext cx="609600" cy="93345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D4D1CC"/>
          </a:solidFill>
          <a:ln xmlns:a="http://schemas.openxmlformats.org/drawingml/2006/main" w="0">
            <a:solidFill>
              <a:srgbClr val="D4D1C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207FDE4-B5F1-4857-B618-7B3A998EB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657475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6D025AA-1C3C-4618-A481-BC74FD77A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324100"/>
            <a:ext cx="609600" cy="93345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AAA59E"/>
          </a:solidFill>
          <a:ln xmlns:a="http://schemas.openxmlformats.org/drawingml/2006/main" w="0">
            <a:solidFill>
              <a:srgbClr val="AAA59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35C2B04-A938-43EB-A3A2-31634295E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657475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C474B98-B8B0-4FC1-A655-1F8BD3E6A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695700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17B74"/>
                </a:solidFill>
              </a:defRPr>
            </a:pPr>
            <a:r>
              <a:rPr sz="1350" b="1">
                <a:solidFill>
                  <a:srgbClr val="817B74"/>
                </a:solidFill>
              </a:rPr>
              <a:t>หน้าจอแคบ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EDC2364-4D49-4B18-B4B5-4DE6C994A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114800"/>
            <a:ext cx="1352550" cy="9334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D4D1CC"/>
          </a:solidFill>
          <a:ln xmlns:a="http://schemas.openxmlformats.org/drawingml/2006/main" w="0">
            <a:solidFill>
              <a:srgbClr val="D4D1C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9DF7E38-88DE-4B31-B7F5-15A04DD1D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448175"/>
            <a:ext cx="1162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9266C47-7C4F-4B5F-A36C-7190FE9A4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114800"/>
            <a:ext cx="1352550" cy="9334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AAA59E"/>
          </a:solidFill>
          <a:ln xmlns:a="http://schemas.openxmlformats.org/drawingml/2006/main" w="0">
            <a:solidFill>
              <a:srgbClr val="AAA59E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F3334B3-11E3-42DB-B62C-D4B8032D7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448175"/>
            <a:ext cx="1162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18E8CF7-E12D-441D-84DF-6FB4B3186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48640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A0A0A"/>
                </a:solidFill>
              </a:defRPr>
            </a:pPr>
            <a:r>
              <a:rPr sz="1500" b="1">
                <a:solidFill>
                  <a:srgbClr val="0A0A0A"/>
                </a:solidFill>
              </a:rPr>
              <a:t>ไม่ต้องกำหนดจำนวนคอลัมน์ตายตัว</a:t>
            </a:r>
          </a:p>
        </p:txBody>
      </p:sp>
    </p:spTree>
    <p:extLst>
      <p:ext uri="{BB962C8B-B14F-4D97-AF65-F5344CB8AC3E}">
        <p14:creationId xmlns:p14="http://schemas.microsoft.com/office/powerpoint/2010/main" val="365392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4F4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3E58132-263D-4AB5-B2D1-D6053E809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876300"/>
            <a:ext cx="38100" cy="510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A0A"/>
          </a:solidFill>
          <a:ln xmlns:a="http://schemas.openxmlformats.org/drawingml/2006/main" w="0">
            <a:solidFill>
              <a:srgbClr val="0A0A0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E0321E-D91A-4D51-83E2-732EF8B98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1409700"/>
            <a:ext cx="2667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A0A0A"/>
                </a:solidFill>
              </a:defRPr>
            </a:pPr>
            <a:r>
              <a:rPr sz="1125" b="1">
                <a:solidFill>
                  <a:srgbClr val="0A0A0A"/>
                </a:solidFill>
              </a:rPr>
              <a:t>W</a:t>
            </a:r>
          </a:p>
          <a:p xmlns:a="http://schemas.openxmlformats.org/drawingml/2006/main">
            <a:pPr>
              <a:defRPr sz="1125" b="1">
                <a:solidFill>
                  <a:srgbClr val="0A0A0A"/>
                </a:solidFill>
              </a:defRPr>
            </a:pPr>
            <a:r>
              <a:rPr sz="1125" b="1">
                <a:solidFill>
                  <a:srgbClr val="0A0A0A"/>
                </a:solidFill>
              </a:rPr>
              <a:t>E</a:t>
            </a:r>
          </a:p>
          <a:p xmlns:a="http://schemas.openxmlformats.org/drawingml/2006/main">
            <a:pPr>
              <a:defRPr sz="1125" b="1">
                <a:solidFill>
                  <a:srgbClr val="0A0A0A"/>
                </a:solidFill>
              </a:defRPr>
            </a:pPr>
            <a:r>
              <a:rPr sz="1125" b="1">
                <a:solidFill>
                  <a:srgbClr val="0A0A0A"/>
                </a:solidFill>
              </a:rPr>
              <a:t>B</a:t>
            </a:r>
          </a:p>
          <a:p xmlns:a="http://schemas.openxmlformats.org/drawingml/2006/main">
            <a:pPr>
              <a:defRPr sz="1125" b="1">
                <a:solidFill>
                  <a:srgbClr val="0A0A0A"/>
                </a:solidFill>
              </a:defRPr>
            </a:pPr>
            <a:r>
              <a:rPr sz="1125" b="1">
                <a:solidFill>
                  <a:srgbClr val="0A0A0A"/>
                </a:solidFill>
              </a:rPr>
              <a:t>S</a:t>
            </a:r>
          </a:p>
          <a:p xmlns:a="http://schemas.openxmlformats.org/drawingml/2006/main">
            <a:pPr>
              <a:defRPr sz="1125" b="1">
                <a:solidFill>
                  <a:srgbClr val="0A0A0A"/>
                </a:solidFill>
              </a:defRPr>
            </a:pPr>
            <a:r>
              <a:rPr sz="1125" b="1">
                <a:solidFill>
                  <a:srgbClr val="0A0A0A"/>
                </a:solidFill>
              </a:rPr>
              <a:t>I</a:t>
            </a:r>
          </a:p>
          <a:p xmlns:a="http://schemas.openxmlformats.org/drawingml/2006/main">
            <a:pPr>
              <a:defRPr sz="1125" b="1">
                <a:solidFill>
                  <a:srgbClr val="0A0A0A"/>
                </a:solidFill>
              </a:defRPr>
            </a:pPr>
            <a:r>
              <a:rPr sz="1125" b="1">
                <a:solidFill>
                  <a:srgbClr val="0A0A0A"/>
                </a:solidFill>
              </a:rPr>
              <a:t>T</a:t>
            </a:r>
          </a:p>
          <a:p xmlns:a="http://schemas.openxmlformats.org/drawingml/2006/main">
            <a:pPr>
              <a:defRPr sz="1125" b="1">
                <a:solidFill>
                  <a:srgbClr val="0A0A0A"/>
                </a:solidFill>
              </a:defRPr>
            </a:pPr>
            <a:r>
              <a:rPr sz="1125" b="1">
                <a:solidFill>
                  <a:srgbClr val="0A0A0A"/>
                </a:solidFill>
              </a:rPr>
              <a:t>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A7E94D-81C2-460C-AE90-0EED33EDA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43650"/>
            <a:ext cx="542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817B74"/>
                </a:solidFill>
              </a:defRPr>
            </a:pPr>
            <a:r>
              <a:rPr sz="900" b="1">
                <a:solidFill>
                  <a:srgbClr val="817B74"/>
                </a:solidFill>
              </a:rPr>
              <a:t>21909-1006  •  WEEK 10  •  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BA4F9B-914E-433E-8AAD-A3FAB31B4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47700"/>
            <a:ext cx="9144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A0A0A"/>
                </a:solidFill>
              </a:defRPr>
            </a:pPr>
            <a:r>
              <a:rPr sz="2850" b="1">
                <a:solidFill>
                  <a:srgbClr val="0A0A0A"/>
                </a:solidFill>
              </a:rPr>
              <a:t>LAB 10: สร้าง Gallery Grid ที่ดูดีทุกหน้าจอ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2F7BFC-F601-44F9-AB1E-130F7D38C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304925"/>
            <a:ext cx="876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817B74"/>
                </a:solidFill>
              </a:defRPr>
            </a:pPr>
            <a:r>
              <a:rPr sz="1350">
                <a:solidFill>
                  <a:srgbClr val="817B74"/>
                </a:solidFill>
              </a:rPr>
              <a:t>นำแนวคิด Grid ไปสร้างชิ้นงานที่มีภาพหลายขนาดและจัดวางเป็นระบบ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9D7083-9E3A-40BA-87A1-BF1DEB052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62150"/>
            <a:ext cx="590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A0A0A"/>
                </a:solidFill>
              </a:defRPr>
            </a:pPr>
            <a:r>
              <a:rPr sz="1875" b="1">
                <a:solidFill>
                  <a:srgbClr val="0A0A0A"/>
                </a:solidFill>
              </a:rPr>
              <a:t>ชิ้นงาน: gallery-grid.html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B2709E-3EB3-442B-A737-5BBB4A755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575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A0A"/>
          </a:solidFill>
          <a:ln xmlns:a="http://schemas.openxmlformats.org/drawingml/2006/main" w="0">
            <a:solidFill>
              <a:srgbClr val="0A0A0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9099A3-3C60-466C-B157-77C03AE00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762250"/>
            <a:ext cx="7600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A0A0A"/>
                </a:solidFill>
              </a:defRPr>
            </a:pPr>
            <a:r>
              <a:rPr sz="1725" b="1">
                <a:solidFill>
                  <a:srgbClr val="0A0A0A"/>
                </a:solidFill>
              </a:rPr>
              <a:t>สร้างแกลเลอรีรูปภาพอย่างน้อย 8 ภาพด้วย display: grid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45CC1F-47B1-4DBF-9B0D-C66AE8601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5242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A0A"/>
          </a:solidFill>
          <a:ln xmlns:a="http://schemas.openxmlformats.org/drawingml/2006/main" w="0">
            <a:solidFill>
              <a:srgbClr val="0A0A0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649C4E-2B36-46F9-B6B4-A19EE8887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429000"/>
            <a:ext cx="7600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E2B28"/>
                </a:solidFill>
              </a:defRPr>
            </a:pPr>
            <a:r>
              <a:rPr sz="1725" b="0">
                <a:solidFill>
                  <a:srgbClr val="2E2B28"/>
                </a:solidFill>
              </a:rPr>
              <a:t>ใช้ repeat(auto-fit, minmax(...)) และ gap เพื่อให้กริดยืดหยุ่น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82FDB1-67A2-419A-B5F9-8A039C609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191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A0A"/>
          </a:solidFill>
          <a:ln xmlns:a="http://schemas.openxmlformats.org/drawingml/2006/main" w="0">
            <a:solidFill>
              <a:srgbClr val="0A0A0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D1E207-46AA-4A76-A9F7-87161D792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095750"/>
            <a:ext cx="7600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E2B28"/>
                </a:solidFill>
              </a:defRPr>
            </a:pPr>
            <a:r>
              <a:rPr sz="1725" b="0">
                <a:solidFill>
                  <a:srgbClr val="2E2B28"/>
                </a:solidFill>
              </a:rPr>
              <a:t>ทำภาพเด่นอย่างน้อย 1 ภาพด้วย grid-column และ grid-row แบบ span 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537787-6FF4-4DF5-B7F8-FDBDE53CC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8577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A0A"/>
          </a:solidFill>
          <a:ln xmlns:a="http://schemas.openxmlformats.org/drawingml/2006/main" w="0">
            <a:solidFill>
              <a:srgbClr val="0A0A0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04CC4B-A514-4AFC-A2AD-6A3EDC736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762500"/>
            <a:ext cx="7600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E2B28"/>
                </a:solidFill>
              </a:defRPr>
            </a:pPr>
            <a:r>
              <a:rPr sz="1725" b="0">
                <a:solidFill>
                  <a:srgbClr val="2E2B28"/>
                </a:solidFill>
              </a:rPr>
              <a:t>ทดสอบ Desktop และ Mobile พร้อมยกเลิก span เมื่อจอแคบมาก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1CAC96-9755-43B1-A512-F7E9B61F8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734050"/>
            <a:ext cx="8191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817B74"/>
                </a:solidFill>
              </a:defRPr>
            </a:pPr>
            <a:r>
              <a:rPr sz="1800" b="1">
                <a:solidFill>
                  <a:srgbClr val="817B74"/>
                </a:solidFill>
              </a:rPr>
              <a:t>คิดเป็นโครงสร้าง • เขียนเป็น Grid • ทดสอบทุกขนาดจอ</a:t>
            </a:r>
          </a:p>
        </p:txBody>
      </p:sp>
    </p:spTree>
    <p:extLst>
      <p:ext uri="{BB962C8B-B14F-4D97-AF65-F5344CB8AC3E}">
        <p14:creationId xmlns:p14="http://schemas.microsoft.com/office/powerpoint/2010/main" val="134979811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2026-07-19T18:59:42.3650000Z</dcterms:created>
  <dcterms:modified xsi:type="dcterms:W3CDTF">2026-07-19T18:59:42.3650000Z</dcterms:modified>
</coreProperties>
</file>